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48" d="100"/>
          <a:sy n="48" d="100"/>
        </p:scale>
        <p:origin x="53" y="8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lkadilamia38@gmail.com" userId="9f108d9e66bca781" providerId="LiveId" clId="{C73868B1-E9D4-4CF0-A564-837D6ED2CD07}"/>
    <pc:docChg chg="undo custSel modSld">
      <pc:chgData name="belkadilamia38@gmail.com" userId="9f108d9e66bca781" providerId="LiveId" clId="{C73868B1-E9D4-4CF0-A564-837D6ED2CD07}" dt="2026-08-07T19:08:57.717" v="12" actId="14100"/>
      <pc:docMkLst>
        <pc:docMk/>
      </pc:docMkLst>
      <pc:sldChg chg="addSp delSp modSp mod">
        <pc:chgData name="belkadilamia38@gmail.com" userId="9f108d9e66bca781" providerId="LiveId" clId="{C73868B1-E9D4-4CF0-A564-837D6ED2CD07}" dt="2026-08-07T19:08:57.717" v="12" actId="14100"/>
        <pc:sldMkLst>
          <pc:docMk/>
          <pc:sldMk cId="0" sldId="260"/>
        </pc:sldMkLst>
        <pc:picChg chg="del">
          <ac:chgData name="belkadilamia38@gmail.com" userId="9f108d9e66bca781" providerId="LiveId" clId="{C73868B1-E9D4-4CF0-A564-837D6ED2CD07}" dt="2026-08-07T19:08:21.483" v="0" actId="478"/>
          <ac:picMkLst>
            <pc:docMk/>
            <pc:sldMk cId="0" sldId="260"/>
            <ac:picMk id="13" creationId="{00000000-0000-0000-0000-000000000000}"/>
          </ac:picMkLst>
        </pc:picChg>
        <pc:picChg chg="add mod">
          <ac:chgData name="belkadilamia38@gmail.com" userId="9f108d9e66bca781" providerId="LiveId" clId="{C73868B1-E9D4-4CF0-A564-837D6ED2CD07}" dt="2026-08-07T19:08:57.717" v="12" actId="14100"/>
          <ac:picMkLst>
            <pc:docMk/>
            <pc:sldMk cId="0" sldId="260"/>
            <ac:picMk id="15" creationId="{97253AC9-6480-076E-291F-E3F2F5F1D63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3374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5818" y="-2011679"/>
            <a:ext cx="5116021" cy="4754879"/>
          </a:xfrm>
          <a:prstGeom prst="ellipse">
            <a:avLst/>
          </a:prstGeom>
          <a:solidFill>
            <a:srgbClr val="082C3E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572000"/>
            <a:ext cx="4389120" cy="4389120"/>
          </a:xfrm>
          <a:prstGeom prst="ellipse">
            <a:avLst/>
          </a:prstGeom>
          <a:solidFill>
            <a:srgbClr val="082C3E"/>
          </a:solidFill>
          <a:ln/>
        </p:spPr>
      </p:sp>
      <p:pic>
        <p:nvPicPr>
          <p:cNvPr id="4" name="Image 0" descr="assets/logo_univ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11020"/>
            <a:ext cx="1937170" cy="66039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5" name="Image 1" descr="assets/logo_cf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59" y="621792"/>
            <a:ext cx="1846349" cy="66039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6" name="Image 2" descr="assets/logo_isoar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7960" y="468744"/>
            <a:ext cx="1714498" cy="68579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7" name="Text 2"/>
          <p:cNvSpPr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MÉMOIRE DE FIN D'ÉTUDES — MASTER 2 MIAGE</a:t>
            </a:r>
            <a:endParaRPr lang="en-US" sz="1400" dirty="0"/>
          </a:p>
        </p:txBody>
      </p:sp>
      <p:sp>
        <p:nvSpPr>
          <p:cNvPr id="8" name="Text 3"/>
          <p:cNvSpPr/>
          <p:nvPr/>
        </p:nvSpPr>
        <p:spPr>
          <a:xfrm>
            <a:off x="822960" y="260604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Optimisation de l'efficience énergétique et de l'empreinte carbone des Data Centers Cloud</a:t>
            </a:r>
            <a:endParaRPr lang="en-US" sz="3400" dirty="0"/>
          </a:p>
        </p:txBody>
      </p:sp>
      <p:sp>
        <p:nvSpPr>
          <p:cNvPr id="9" name="Text 4"/>
          <p:cNvSpPr/>
          <p:nvPr/>
        </p:nvSpPr>
        <p:spPr>
          <a:xfrm>
            <a:off x="822960" y="41605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10" name="Shape 5"/>
          <p:cNvSpPr/>
          <p:nvPr/>
        </p:nvSpPr>
        <p:spPr>
          <a:xfrm>
            <a:off x="822960" y="4892040"/>
            <a:ext cx="2743200" cy="0"/>
          </a:xfrm>
          <a:prstGeom prst="line">
            <a:avLst/>
          </a:prstGeom>
          <a:noFill/>
          <a:ln w="25400">
            <a:solidFill>
              <a:srgbClr val="E67E22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822960" y="5120640"/>
            <a:ext cx="9601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 par : 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Lamia BELKADI
</a:t>
            </a:r>
            <a:r>
              <a:rPr lang="en-US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Tuteur pédagogique : 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Bachir DJAFRI
</a:t>
            </a:r>
            <a:r>
              <a:rPr lang="en-US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Maître d'apprentissage : 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Anthony CORTEZ
</a:t>
            </a:r>
            <a:r>
              <a:rPr lang="en-US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Entreprise d'accueil : 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ISOAR — Année universitaire 2025/2026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la présentation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481328"/>
            <a:ext cx="5395410" cy="4718304"/>
          </a:xfrm>
          <a:prstGeom prst="roundRect">
            <a:avLst>
              <a:gd name="adj" fmla="val 1702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1709928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0B3D56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353671"/>
            <a:ext cx="502920" cy="1206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00200" y="1682494"/>
            <a:ext cx="3840480" cy="5760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Synthèse de l'entreprise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05840" y="2328134"/>
            <a:ext cx="4480560" cy="3478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E2530"/>
                </a:solidFill>
                <a:ea typeface="Calibri" pitchFamily="34" charset="-122"/>
                <a:cs typeface="Calibri" pitchFamily="34" charset="-120"/>
              </a:rPr>
              <a:t>L'entreprise ISOAR et ses clients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E2530"/>
                </a:solidFill>
                <a:ea typeface="Calibri" pitchFamily="34" charset="-122"/>
                <a:cs typeface="Calibri" pitchFamily="34" charset="-120"/>
              </a:rPr>
              <a:t>Le maître d'apprentissage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E2530"/>
                </a:solidFill>
                <a:ea typeface="Calibri" pitchFamily="34" charset="-122"/>
                <a:cs typeface="Calibri" pitchFamily="34" charset="-120"/>
              </a:rPr>
              <a:t>Les travaux </a:t>
            </a:r>
            <a:r>
              <a:rPr lang="en-US" sz="1450" dirty="0" err="1">
                <a:solidFill>
                  <a:srgbClr val="1E2530"/>
                </a:solidFill>
                <a:ea typeface="Calibri" pitchFamily="34" charset="-122"/>
                <a:cs typeface="Calibri" pitchFamily="34" charset="-120"/>
              </a:rPr>
              <a:t>effectués</a:t>
            </a:r>
            <a:r>
              <a:rPr lang="en-US" sz="1450" dirty="0">
                <a:solidFill>
                  <a:srgbClr val="1E2530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1E2530"/>
                </a:solidFill>
                <a:ea typeface="Calibri" pitchFamily="34" charset="-122"/>
                <a:cs typeface="Calibri" pitchFamily="34" charset="-120"/>
              </a:rPr>
              <a:t>en</a:t>
            </a:r>
            <a:r>
              <a:rPr lang="en-US" sz="1450" dirty="0">
                <a:solidFill>
                  <a:srgbClr val="1E2530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1E2530"/>
                </a:solidFill>
                <a:ea typeface="Calibri" pitchFamily="34" charset="-122"/>
                <a:cs typeface="Calibri" pitchFamily="34" charset="-120"/>
              </a:rPr>
              <a:t>entreprise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E2530"/>
                </a:solidFill>
                <a:ea typeface="Calibri" pitchFamily="34" charset="-122"/>
                <a:cs typeface="Calibri" pitchFamily="34" charset="-120"/>
              </a:rPr>
              <a:t>Évolution vers la gestion de projet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E2530"/>
                </a:solidFill>
                <a:ea typeface="Calibri" pitchFamily="34" charset="-122"/>
                <a:cs typeface="Calibri" pitchFamily="34" charset="-120"/>
              </a:rPr>
              <a:t>Technologies et outils utilisés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339839" y="1481328"/>
            <a:ext cx="5502537" cy="4718304"/>
          </a:xfrm>
          <a:prstGeom prst="roundRect">
            <a:avLst>
              <a:gd name="adj" fmla="val 1702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760958" y="1649058"/>
            <a:ext cx="502919" cy="502920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/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 </a:t>
            </a:r>
            <a:endParaRPr lang="en-US" dirty="0"/>
          </a:p>
          <a:p>
            <a:endParaRPr lang="fr-FR" dirty="0"/>
          </a:p>
        </p:txBody>
      </p:sp>
      <p:sp>
        <p:nvSpPr>
          <p:cNvPr id="12" name="Text 10"/>
          <p:cNvSpPr/>
          <p:nvPr/>
        </p:nvSpPr>
        <p:spPr>
          <a:xfrm>
            <a:off x="6675120" y="1900518"/>
            <a:ext cx="502920" cy="6598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315200" y="1668781"/>
            <a:ext cx="3818965" cy="5897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Présentation du mémoire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720840" y="2328134"/>
            <a:ext cx="4526280" cy="34783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fr-FR" sz="1350" dirty="0"/>
              <a:t>Problématique &amp; contexte</a:t>
            </a:r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fr-FR" sz="1350" dirty="0"/>
              <a:t>État de l'art &amp; limites des solutions existantes</a:t>
            </a:r>
            <a:endParaRPr lang="en-US" sz="13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fr-FR" sz="1350" dirty="0"/>
              <a:t>HEAT2VALUE : le changement de paradigme</a:t>
            </a:r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fr-FR" sz="1350" dirty="0"/>
              <a:t>Le nouveau KPI : le HRR</a:t>
            </a:r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fr-FR" sz="1350" dirty="0"/>
              <a:t>Le nouveau score environnemental</a:t>
            </a:r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fr-FR" sz="1350" dirty="0"/>
              <a:t>Architecture &amp; fonctionnement de l'algorithme</a:t>
            </a:r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fr-FR" sz="1350" dirty="0"/>
              <a:t>Implémentation en Python</a:t>
            </a:r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fr-FR" sz="1400" dirty="0"/>
              <a:t>Résultats &amp; comparaison</a:t>
            </a:r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fr-FR" sz="1400" dirty="0"/>
              <a:t>Métriques &amp; indicateurs de réalisation</a:t>
            </a:r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fr-FR" sz="1400" dirty="0"/>
              <a:t>Limites &amp; perspectives d'amélioration</a:t>
            </a:r>
            <a:endParaRPr lang="fr-FR" sz="13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3D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082C3E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solidFill>
            <a:srgbClr val="082C3E"/>
          </a:solidFill>
          <a:ln/>
        </p:spPr>
      </p:sp>
      <p:sp>
        <p:nvSpPr>
          <p:cNvPr id="4" name="Text 2"/>
          <p:cNvSpPr/>
          <p:nvPr/>
        </p:nvSpPr>
        <p:spPr>
          <a:xfrm>
            <a:off x="1247832" y="1691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23323" y="3131820"/>
            <a:ext cx="9875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Synthèse de l'activité en entreprise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19266" y="299466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0" y="50292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000" b="1" dirty="0">
                <a:solidFill>
                  <a:srgbClr val="082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L'entreprise ISOAR et ses clients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31292" y="1783080"/>
            <a:ext cx="5943600" cy="4343400"/>
          </a:xfrm>
          <a:prstGeom prst="roundRect">
            <a:avLst>
              <a:gd name="adj" fmla="val 1684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061880"/>
            <a:ext cx="5212080" cy="36934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0B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Fondée en 1992</a:t>
            </a:r>
            <a:r>
              <a:rPr lang="en-US" sz="13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Rungis (94)</a:t>
            </a:r>
          </a:p>
          <a:p>
            <a:pPr>
              <a:lnSpc>
                <a:spcPts val="2000"/>
              </a:lnSpc>
            </a:pPr>
            <a:r>
              <a:rPr lang="fr-FR" sz="1400" dirty="0"/>
              <a:t>Spécialisée dans l'édition de logiciels ERP pour l'industrie</a:t>
            </a:r>
          </a:p>
          <a:p>
            <a:pPr>
              <a:lnSpc>
                <a:spcPts val="2000"/>
              </a:lnSpc>
            </a:pPr>
            <a:r>
              <a:rPr lang="en-US" sz="13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fr-FR" sz="1400" b="1" dirty="0">
                <a:solidFill>
                  <a:schemeClr val="accent1">
                    <a:lumMod val="50000"/>
                  </a:schemeClr>
                </a:solidFill>
              </a:rPr>
              <a:t>Produit phare : </a:t>
            </a:r>
            <a:r>
              <a:rPr lang="fr-FR" sz="1400" dirty="0"/>
              <a:t>ERP SQUALP</a:t>
            </a:r>
          </a:p>
          <a:p>
            <a:pPr>
              <a:lnSpc>
                <a:spcPts val="2000"/>
              </a:lnSpc>
            </a:pPr>
            <a:r>
              <a:rPr lang="fr-FR" sz="1400" dirty="0"/>
              <a:t>Progiciel de gestion industrielle intégrant la qualité à l'ensemble des processus métiers</a:t>
            </a:r>
          </a:p>
          <a:p>
            <a:pPr>
              <a:lnSpc>
                <a:spcPts val="2000"/>
              </a:lnSpc>
            </a:pPr>
            <a:endParaRPr lang="fr-FR" sz="1400" dirty="0"/>
          </a:p>
          <a:p>
            <a:pPr>
              <a:lnSpc>
                <a:spcPts val="2000"/>
              </a:lnSpc>
            </a:pPr>
            <a:r>
              <a:rPr lang="fr-FR" sz="1400" b="1" dirty="0">
                <a:solidFill>
                  <a:schemeClr val="accent1">
                    <a:lumMod val="50000"/>
                  </a:schemeClr>
                </a:solidFill>
              </a:rPr>
              <a:t>Mon département : </a:t>
            </a:r>
            <a:r>
              <a:rPr lang="fr-FR" sz="1400" dirty="0"/>
              <a:t>Pôle développement informatique</a:t>
            </a:r>
          </a:p>
          <a:p>
            <a:pPr>
              <a:lnSpc>
                <a:spcPts val="2000"/>
              </a:lnSpc>
            </a:pPr>
            <a:r>
              <a:rPr lang="fr-FR" sz="1400" dirty="0"/>
              <a:t>Développement web/mobile, API REST, évolutions de l'ERP SQUALP</a:t>
            </a:r>
          </a:p>
          <a:p>
            <a:pPr>
              <a:lnSpc>
                <a:spcPts val="2000"/>
              </a:lnSpc>
            </a:pPr>
            <a:endParaRPr lang="fr-FR" sz="1400" dirty="0"/>
          </a:p>
          <a:p>
            <a:pPr>
              <a:lnSpc>
                <a:spcPts val="2000"/>
              </a:lnSpc>
            </a:pPr>
            <a:r>
              <a:rPr lang="fr-FR" sz="1400" b="1" dirty="0">
                <a:solidFill>
                  <a:schemeClr val="accent1">
                    <a:lumMod val="50000"/>
                  </a:schemeClr>
                </a:solidFill>
              </a:rPr>
              <a:t>Secteurs clients :</a:t>
            </a:r>
            <a:br>
              <a:rPr lang="fr-FR" sz="1400" dirty="0"/>
            </a:br>
            <a:r>
              <a:rPr lang="fr-FR" sz="1400" dirty="0"/>
              <a:t>Bois · Polymères · Médical · Bâtiment · Biologique</a:t>
            </a:r>
          </a:p>
          <a:p>
            <a:pPr>
              <a:lnSpc>
                <a:spcPts val="2000"/>
              </a:lnSpc>
            </a:pP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3940706"/>
            <a:ext cx="4249271" cy="19571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  <a:buSzPct val="100000"/>
            </a:pP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705600" y="1691640"/>
            <a:ext cx="493776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95160" y="18745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Quelques clients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995160" y="2331720"/>
            <a:ext cx="2041264" cy="1159405"/>
          </a:xfrm>
          <a:prstGeom prst="roundRect">
            <a:avLst>
              <a:gd name="adj" fmla="val 5161"/>
            </a:avLst>
          </a:prstGeom>
          <a:solidFill>
            <a:srgbClr val="F4F7F8"/>
          </a:solidFill>
          <a:ln/>
        </p:spPr>
      </p:sp>
      <p:pic>
        <p:nvPicPr>
          <p:cNvPr id="11" name="Image 0" descr="assets/client_gascog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1100" y="2441449"/>
            <a:ext cx="1083982" cy="48779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104888" y="3063240"/>
            <a:ext cx="211226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Bois — ~3000 employés, cotée en bourse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9343016" y="2331720"/>
            <a:ext cx="2041264" cy="1159405"/>
          </a:xfrm>
          <a:prstGeom prst="roundRect">
            <a:avLst>
              <a:gd name="adj" fmla="val 5161"/>
            </a:avLst>
          </a:prstGeom>
          <a:solidFill>
            <a:srgbClr val="F4F7F8"/>
          </a:solidFill>
          <a:ln/>
        </p:spPr>
      </p:sp>
      <p:pic>
        <p:nvPicPr>
          <p:cNvPr id="14" name="Image 1" descr="assets/client_polytech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5700" y="2441448"/>
            <a:ext cx="1231900" cy="55435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619488" y="3063240"/>
            <a:ext cx="211226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Fabrication de polymères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995160" y="3600853"/>
            <a:ext cx="2041264" cy="1218035"/>
          </a:xfrm>
          <a:prstGeom prst="roundRect">
            <a:avLst>
              <a:gd name="adj" fmla="val 5161"/>
            </a:avLst>
          </a:prstGeom>
          <a:solidFill>
            <a:srgbClr val="F4F7F8"/>
          </a:solidFill>
          <a:ln/>
        </p:spPr>
      </p:sp>
      <p:pic>
        <p:nvPicPr>
          <p:cNvPr id="17" name="Image 2" descr="assets/client_flexelec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3320" y="3734698"/>
            <a:ext cx="1259840" cy="56692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104888" y="4333005"/>
            <a:ext cx="2112264" cy="4401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hors gel &amp; maintien en température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343016" y="3566161"/>
            <a:ext cx="2041264" cy="1234440"/>
          </a:xfrm>
          <a:prstGeom prst="roundRect">
            <a:avLst>
              <a:gd name="adj" fmla="val 5161"/>
            </a:avLst>
          </a:prstGeom>
          <a:solidFill>
            <a:srgbClr val="F4F7F8"/>
          </a:solidFill>
          <a:ln/>
        </p:spPr>
      </p:sp>
      <p:pic>
        <p:nvPicPr>
          <p:cNvPr id="20" name="Image 3" descr="assets/client_agem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6896" y="3661905"/>
            <a:ext cx="1173480" cy="52806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619488" y="4343400"/>
            <a:ext cx="211226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du bâtiment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6995160" y="4928616"/>
            <a:ext cx="2041264" cy="1032913"/>
          </a:xfrm>
          <a:prstGeom prst="roundRect">
            <a:avLst>
              <a:gd name="adj" fmla="val 5161"/>
            </a:avLst>
          </a:prstGeom>
          <a:solidFill>
            <a:srgbClr val="F4F7F8"/>
          </a:solidFill>
          <a:ln/>
        </p:spPr>
      </p:sp>
      <p:pic>
        <p:nvPicPr>
          <p:cNvPr id="23" name="Image 4" descr="assets/client_imc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1100" y="4983481"/>
            <a:ext cx="1155700" cy="514309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104888" y="5565827"/>
            <a:ext cx="2112264" cy="5606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du consommable médical (Algérie)</a:t>
            </a:r>
            <a:endParaRPr 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9343016" y="4915168"/>
            <a:ext cx="2041264" cy="1032913"/>
          </a:xfrm>
          <a:prstGeom prst="roundRect">
            <a:avLst>
              <a:gd name="adj" fmla="val 5161"/>
            </a:avLst>
          </a:prstGeom>
          <a:solidFill>
            <a:srgbClr val="F4F7F8"/>
          </a:solidFill>
          <a:ln/>
        </p:spPr>
      </p:sp>
      <p:pic>
        <p:nvPicPr>
          <p:cNvPr id="26" name="Image 5" descr="assets/client_sobi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45700" y="4996392"/>
            <a:ext cx="1151218" cy="51804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619488" y="5623560"/>
            <a:ext cx="211226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 certifiés BIO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maître d'apprentissage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120640" cy="4343400"/>
          </a:xfrm>
          <a:prstGeom prst="roundRect">
            <a:avLst>
              <a:gd name="adj" fmla="val 1684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011680"/>
            <a:ext cx="822960" cy="822960"/>
          </a:xfrm>
          <a:prstGeom prst="ellipse">
            <a:avLst/>
          </a:prstGeom>
          <a:solidFill>
            <a:srgbClr val="0B3D5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</a:t>
            </a:r>
            <a:endParaRPr lang="en-US" sz="1980" dirty="0"/>
          </a:p>
        </p:txBody>
      </p:sp>
      <p:sp>
        <p:nvSpPr>
          <p:cNvPr id="8" name="Text 6"/>
          <p:cNvSpPr/>
          <p:nvPr/>
        </p:nvSpPr>
        <p:spPr>
          <a:xfrm>
            <a:off x="1874520" y="208483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Anthony CORTEZ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874520" y="2487168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Développeur principal / Responsable technique et projets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316940"/>
            <a:ext cx="4480560" cy="26723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 du développement, de la maintenance et de l'évolution de l'ERP SQUALP (Delphi / SQL Server)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complète des projets clients et analyse des besoins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Rédaction des cahiers des charges et suivi des plannings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technique et formation des </a:t>
            </a:r>
            <a:r>
              <a:rPr lang="en-US" sz="1300" dirty="0" err="1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</a:t>
            </a:r>
            <a:endParaRPr lang="en-US" sz="1300" dirty="0">
              <a:solidFill>
                <a:srgbClr val="1E253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852160" y="1691640"/>
            <a:ext cx="580644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18745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Organisation de l'équipe de développement</a:t>
            </a:r>
            <a:endParaRPr lang="en-US" sz="1400" dirty="0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97253AC9-6480-076E-291F-E3F2F5F1D6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39" y="2679192"/>
            <a:ext cx="5623561" cy="306388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travaux </a:t>
            </a:r>
            <a:r>
              <a:rPr lang="en-US" sz="3000" b="1" dirty="0" err="1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réalisés</a:t>
            </a:r>
            <a:r>
              <a:rPr lang="en-US" sz="30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chez ISOAR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440680" cy="2084832"/>
          </a:xfrm>
          <a:prstGeom prst="roundRect">
            <a:avLst>
              <a:gd name="adj" fmla="val 3509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965960"/>
            <a:ext cx="384048" cy="384048"/>
          </a:xfrm>
          <a:prstGeom prst="roundRect">
            <a:avLst>
              <a:gd name="adj" fmla="val 95238"/>
            </a:avLst>
          </a:prstGeom>
          <a:solidFill>
            <a:srgbClr val="1B7A8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65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1938528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600" b="1" dirty="0">
                <a:solidFill>
                  <a:schemeClr val="accent1">
                    <a:lumMod val="50000"/>
                  </a:schemeClr>
                </a:solidFill>
              </a:rPr>
              <a:t>SQUALP Web</a:t>
            </a:r>
            <a:endParaRPr lang="en-US" sz="145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2450592"/>
            <a:ext cx="4892040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fr-FR" sz="1200" dirty="0"/>
              <a:t>Adaptation de l'ERP vers le web/mobile</a:t>
            </a:r>
          </a:p>
          <a:p>
            <a:endParaRPr lang="fr-FR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/>
              <a:t>Transfert de stocks, inventaires, ordres de services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/>
              <a:t>Interfaces réactives + scanner de codes-barres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/>
              <a:t>Fenêtres modales pour gestion d'articles</a:t>
            </a:r>
          </a:p>
        </p:txBody>
      </p:sp>
      <p:sp>
        <p:nvSpPr>
          <p:cNvPr id="10" name="Shape 8"/>
          <p:cNvSpPr/>
          <p:nvPr/>
        </p:nvSpPr>
        <p:spPr>
          <a:xfrm>
            <a:off x="6263640" y="1737360"/>
            <a:ext cx="5440680" cy="2084832"/>
          </a:xfrm>
          <a:prstGeom prst="roundRect">
            <a:avLst>
              <a:gd name="adj" fmla="val 3509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11" name="Shape 9"/>
          <p:cNvSpPr/>
          <p:nvPr/>
        </p:nvSpPr>
        <p:spPr>
          <a:xfrm>
            <a:off x="6492240" y="1965960"/>
            <a:ext cx="384048" cy="384048"/>
          </a:xfrm>
          <a:prstGeom prst="roundRect">
            <a:avLst>
              <a:gd name="adj" fmla="val 95238"/>
            </a:avLst>
          </a:prstGeom>
          <a:solidFill>
            <a:srgbClr val="1B7A8C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1965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40880" y="1938528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600" b="1" dirty="0">
                <a:solidFill>
                  <a:schemeClr val="accent1">
                    <a:lumMod val="50000"/>
                  </a:schemeClr>
                </a:solidFill>
              </a:rPr>
              <a:t>Projet IXAO</a:t>
            </a:r>
            <a:endParaRPr lang="en-US" sz="145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6537960" y="2450592"/>
            <a:ext cx="4892040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fr-FR" sz="1200" dirty="0"/>
              <a:t>Système de gestion des demandes</a:t>
            </a:r>
          </a:p>
          <a:p>
            <a:endParaRPr lang="fr-FR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/>
              <a:t>Évolutions </a:t>
            </a:r>
            <a:r>
              <a:rPr lang="fr-FR" sz="1200" dirty="0" err="1"/>
              <a:t>front-end</a:t>
            </a:r>
            <a:r>
              <a:rPr lang="fr-FR" sz="1200" dirty="0"/>
              <a:t> &amp; </a:t>
            </a:r>
            <a:r>
              <a:rPr lang="fr-FR" sz="1200" dirty="0" err="1"/>
              <a:t>back-end</a:t>
            </a:r>
            <a:endParaRPr lang="fr-FR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/>
              <a:t>Nouvelles fonctionnalités &amp; amélioration UX</a:t>
            </a:r>
          </a:p>
        </p:txBody>
      </p:sp>
      <p:sp>
        <p:nvSpPr>
          <p:cNvPr id="15" name="Shape 13"/>
          <p:cNvSpPr/>
          <p:nvPr/>
        </p:nvSpPr>
        <p:spPr>
          <a:xfrm>
            <a:off x="534745" y="4050792"/>
            <a:ext cx="5440680" cy="2084832"/>
          </a:xfrm>
          <a:prstGeom prst="roundRect">
            <a:avLst>
              <a:gd name="adj" fmla="val 3509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4279392"/>
            <a:ext cx="384048" cy="384048"/>
          </a:xfrm>
          <a:prstGeom prst="roundRect">
            <a:avLst>
              <a:gd name="adj" fmla="val 95238"/>
            </a:avLst>
          </a:prstGeom>
          <a:solidFill>
            <a:srgbClr val="1B7A8C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2793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25880" y="425196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600" b="1" dirty="0">
                <a:solidFill>
                  <a:schemeClr val="accent1">
                    <a:lumMod val="50000"/>
                  </a:schemeClr>
                </a:solidFill>
              </a:rPr>
              <a:t>API REST — Gascogne Bois</a:t>
            </a:r>
            <a:endParaRPr lang="en-US" sz="145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822960" y="4764024"/>
            <a:ext cx="4892040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fr-FR" sz="1200" dirty="0"/>
              <a:t>Conception d'APIs en JavaScript &amp; PHP</a:t>
            </a:r>
          </a:p>
          <a:p>
            <a:endParaRPr lang="fr-FR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/>
              <a:t>Module des commandes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/>
              <a:t>Procédures stockées SQL + tests Postman</a:t>
            </a:r>
          </a:p>
        </p:txBody>
      </p:sp>
      <p:sp>
        <p:nvSpPr>
          <p:cNvPr id="20" name="Shape 18"/>
          <p:cNvSpPr/>
          <p:nvPr/>
        </p:nvSpPr>
        <p:spPr>
          <a:xfrm>
            <a:off x="6263640" y="4050792"/>
            <a:ext cx="5440680" cy="2084832"/>
          </a:xfrm>
          <a:prstGeom prst="roundRect">
            <a:avLst>
              <a:gd name="adj" fmla="val 3509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21" name="Shape 19"/>
          <p:cNvSpPr/>
          <p:nvPr/>
        </p:nvSpPr>
        <p:spPr>
          <a:xfrm>
            <a:off x="6492240" y="4279392"/>
            <a:ext cx="384048" cy="384048"/>
          </a:xfrm>
          <a:prstGeom prst="roundRect">
            <a:avLst>
              <a:gd name="adj" fmla="val 95238"/>
            </a:avLst>
          </a:prstGeom>
          <a:solidFill>
            <a:srgbClr val="1B7A8C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42793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40880" y="425196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600" b="1" dirty="0">
                <a:solidFill>
                  <a:schemeClr val="accent1">
                    <a:lumMod val="50000"/>
                  </a:schemeClr>
                </a:solidFill>
              </a:rPr>
              <a:t>Statistiques Ventes</a:t>
            </a:r>
            <a:r>
              <a:rPr lang="fr-FR" sz="16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fr-FR" sz="1600" i="1" dirty="0">
                <a:solidFill>
                  <a:schemeClr val="accent1">
                    <a:lumMod val="50000"/>
                  </a:schemeClr>
                </a:solidFill>
              </a:rPr>
              <a:t>(mission actuelle)</a:t>
            </a:r>
            <a:endParaRPr lang="en-US" sz="145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6537960" y="4764024"/>
            <a:ext cx="4892040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fr-FR" sz="1200" dirty="0"/>
              <a:t>Développement d'un module de visualisation de données</a:t>
            </a:r>
          </a:p>
          <a:p>
            <a:endParaRPr lang="fr-FR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/>
              <a:t>Graphiques interactifs avec </a:t>
            </a:r>
            <a:r>
              <a:rPr lang="fr-FR" sz="1200" b="1" dirty="0"/>
              <a:t>Chart.js</a:t>
            </a:r>
            <a:r>
              <a:rPr lang="fr-FR" sz="1200" dirty="0"/>
              <a:t> (barres, camembert, courbes)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/>
              <a:t>Comparaison annuelle CA/Coût/Marge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/>
              <a:t>Export PDF et impression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/>
              <a:t>Données dynamiques via API REST &amp; SQL Server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Évolution des missions vers la gestion de projet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7553" y="1737359"/>
            <a:ext cx="5027407" cy="4874111"/>
          </a:xfrm>
          <a:prstGeom prst="roundRect">
            <a:avLst>
              <a:gd name="adj" fmla="val 1720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6" name="Text 4"/>
          <p:cNvSpPr/>
          <p:nvPr/>
        </p:nvSpPr>
        <p:spPr>
          <a:xfrm>
            <a:off x="466165" y="1965960"/>
            <a:ext cx="41058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Gestion de </a:t>
            </a:r>
            <a:r>
              <a:rPr lang="en-US" sz="1500" b="1" dirty="0" err="1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377440"/>
            <a:ext cx="4846320" cy="9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33400" y="2331719"/>
            <a:ext cx="4861560" cy="42797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700"/>
              </a:lnSpc>
            </a:pPr>
            <a:r>
              <a:rPr lang="fr-FR" sz="1400" dirty="0"/>
              <a:t>Mon rôle a évolué au fil de l'alternance avec une montée en autonomie progressive, m'ouvrant à des responsabilités de gestion de projet aux côtés de mon maître d'apprentissage.</a:t>
            </a:r>
          </a:p>
          <a:p>
            <a:pPr>
              <a:lnSpc>
                <a:spcPts val="1700"/>
              </a:lnSpc>
            </a:pPr>
            <a:endParaRPr lang="fr-FR" sz="1400" dirty="0"/>
          </a:p>
          <a:p>
            <a:r>
              <a:rPr lang="fr-FR" sz="1400" b="1" dirty="0">
                <a:solidFill>
                  <a:schemeClr val="accent1">
                    <a:lumMod val="50000"/>
                  </a:schemeClr>
                </a:solidFill>
              </a:rPr>
              <a:t>Ce que ça implique concrètement :</a:t>
            </a:r>
            <a:endParaRPr lang="fr-F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b="1" dirty="0"/>
              <a:t>Analyse des besoins fonctionnels</a:t>
            </a:r>
            <a:br>
              <a:rPr lang="fr-FR" sz="1400" dirty="0"/>
            </a:br>
            <a:r>
              <a:rPr lang="fr-FR" sz="1400" dirty="0"/>
              <a:t>Recueil et compréhension des besoins clients</a:t>
            </a:r>
          </a:p>
          <a:p>
            <a:endParaRPr lang="fr-F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b="1" dirty="0"/>
              <a:t>Priorisation des tâches</a:t>
            </a:r>
            <a:br>
              <a:rPr lang="fr-FR" sz="1400" dirty="0"/>
            </a:br>
            <a:r>
              <a:rPr lang="fr-FR" sz="1400" dirty="0"/>
              <a:t>Organisation et planification des développements</a:t>
            </a:r>
          </a:p>
          <a:p>
            <a:endParaRPr lang="fr-F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b="1" dirty="0"/>
              <a:t>Suivi des projets</a:t>
            </a:r>
            <a:br>
              <a:rPr lang="fr-FR" sz="1400" dirty="0"/>
            </a:br>
            <a:r>
              <a:rPr lang="fr-FR" sz="1400" dirty="0"/>
              <a:t>Coordination des phases et respect des délais</a:t>
            </a:r>
          </a:p>
          <a:p>
            <a:endParaRPr lang="fr-F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b="1" dirty="0"/>
              <a:t>Coordination des équipes</a:t>
            </a:r>
            <a:br>
              <a:rPr lang="fr-FR" sz="1400" dirty="0"/>
            </a:br>
            <a:r>
              <a:rPr lang="fr-FR" sz="1400" dirty="0"/>
              <a:t>Lien entre les différentes phases de développement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400" dirty="0"/>
          </a:p>
          <a:p>
            <a:pPr>
              <a:lnSpc>
                <a:spcPts val="1700"/>
              </a:lnSpc>
            </a:pPr>
            <a:r>
              <a:rPr lang="en-US" sz="1400" i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Vision plus </a:t>
            </a:r>
            <a:r>
              <a:rPr lang="en-US" sz="1400" i="1" dirty="0" err="1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globale</a:t>
            </a:r>
            <a:r>
              <a:rPr lang="en-US" sz="1400" i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 cycle de vie des </a:t>
            </a:r>
            <a:r>
              <a:rPr lang="en-US" sz="1400" i="1" dirty="0" err="1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projets</a:t>
            </a:r>
            <a:r>
              <a:rPr lang="en-US" sz="1400" i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informatiques</a:t>
            </a:r>
            <a:r>
              <a:rPr lang="en-US" sz="1400" i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400" i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entreprise</a:t>
            </a:r>
            <a:r>
              <a:rPr lang="en-US" sz="1400" i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>
              <a:lnSpc>
                <a:spcPts val="1700"/>
              </a:lnSpc>
            </a:pP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714999" y="1737360"/>
            <a:ext cx="6109447" cy="4874110"/>
          </a:xfrm>
          <a:prstGeom prst="roundRect">
            <a:avLst>
              <a:gd name="adj" fmla="val 1720"/>
            </a:avLst>
          </a:prstGeom>
          <a:solidFill>
            <a:srgbClr val="0B3D56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10" name="Text 8"/>
          <p:cNvSpPr/>
          <p:nvPr/>
        </p:nvSpPr>
        <p:spPr>
          <a:xfrm>
            <a:off x="662940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et </a:t>
            </a:r>
            <a:r>
              <a:rPr lang="en-US" sz="1600" b="1" dirty="0" err="1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outils</a:t>
            </a: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utilisés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629400" y="242316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629400" y="3429000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000"/>
              </a:spcAft>
              <a:buSzPct val="100000"/>
            </a:pP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629400" y="507492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A66712AE-77E7-3BB6-C44B-1674B9A840F3}"/>
              </a:ext>
            </a:extLst>
          </p:cNvPr>
          <p:cNvSpPr/>
          <p:nvPr/>
        </p:nvSpPr>
        <p:spPr>
          <a:xfrm>
            <a:off x="6189234" y="2444674"/>
            <a:ext cx="1780390" cy="1779853"/>
          </a:xfrm>
          <a:prstGeom prst="roundRect">
            <a:avLst>
              <a:gd name="adj" fmla="val 2759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  <p:txBody>
          <a:bodyPr/>
          <a:lstStyle/>
          <a:p>
            <a:endParaRPr lang="fr-FR" dirty="0"/>
          </a:p>
          <a:p>
            <a:r>
              <a:rPr lang="en-US" sz="1350" b="1" dirty="0" err="1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Langages</a:t>
            </a:r>
            <a:endParaRPr lang="en-US" sz="1350" b="1" dirty="0">
              <a:solidFill>
                <a:srgbClr val="0B3D56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endParaRPr lang="en-US" sz="1350" dirty="0"/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350" dirty="0"/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1350" dirty="0"/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350" dirty="0"/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Delphi (lecture</a:t>
            </a:r>
            <a:r>
              <a:rPr lang="en-US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dirty="0"/>
          </a:p>
          <a:p>
            <a:endParaRPr lang="fr-FR" dirty="0"/>
          </a:p>
        </p:txBody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4F524EE8-AEC7-0930-6A7A-C7BCD842156C}"/>
              </a:ext>
            </a:extLst>
          </p:cNvPr>
          <p:cNvSpPr/>
          <p:nvPr/>
        </p:nvSpPr>
        <p:spPr>
          <a:xfrm>
            <a:off x="6245351" y="2601647"/>
            <a:ext cx="384048" cy="73152"/>
          </a:xfrm>
          <a:prstGeom prst="roundRect">
            <a:avLst>
              <a:gd name="adj" fmla="val 50000"/>
            </a:avLst>
          </a:prstGeom>
          <a:solidFill>
            <a:srgbClr val="1B7A8C"/>
          </a:solidFill>
          <a:ln/>
        </p:spPr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46411B72-E048-22EB-C74A-9CFA988A056E}"/>
              </a:ext>
            </a:extLst>
          </p:cNvPr>
          <p:cNvSpPr/>
          <p:nvPr/>
        </p:nvSpPr>
        <p:spPr>
          <a:xfrm>
            <a:off x="6189234" y="4528072"/>
            <a:ext cx="1780390" cy="1779853"/>
          </a:xfrm>
          <a:prstGeom prst="roundRect">
            <a:avLst>
              <a:gd name="adj" fmla="val 2759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  <p:txBody>
          <a:bodyPr/>
          <a:lstStyle/>
          <a:p>
            <a:endParaRPr lang="fr-FR" dirty="0"/>
          </a:p>
          <a:p>
            <a:r>
              <a:rPr lang="en-US" sz="135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de données</a:t>
            </a:r>
          </a:p>
          <a:p>
            <a:endParaRPr lang="en-US" sz="13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SQL Server</a:t>
            </a:r>
            <a:endParaRPr lang="en-US" sz="1350" dirty="0"/>
          </a:p>
          <a:p>
            <a:endParaRPr lang="fr-FR" dirty="0"/>
          </a:p>
        </p:txBody>
      </p:sp>
      <p:sp>
        <p:nvSpPr>
          <p:cNvPr id="21" name="Shape 8">
            <a:extLst>
              <a:ext uri="{FF2B5EF4-FFF2-40B4-BE49-F238E27FC236}">
                <a16:creationId xmlns:a16="http://schemas.microsoft.com/office/drawing/2014/main" id="{877B23FF-C392-4E6A-E976-8FF50F39F918}"/>
              </a:ext>
            </a:extLst>
          </p:cNvPr>
          <p:cNvSpPr/>
          <p:nvPr/>
        </p:nvSpPr>
        <p:spPr>
          <a:xfrm>
            <a:off x="6279869" y="4691858"/>
            <a:ext cx="384048" cy="73152"/>
          </a:xfrm>
          <a:prstGeom prst="roundRect">
            <a:avLst>
              <a:gd name="adj" fmla="val 50000"/>
            </a:avLst>
          </a:prstGeom>
          <a:solidFill>
            <a:srgbClr val="0B3D56"/>
          </a:solidFill>
          <a:ln/>
        </p:spPr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D4644795-FDD5-5A34-0830-D0AA78504161}"/>
              </a:ext>
            </a:extLst>
          </p:cNvPr>
          <p:cNvSpPr/>
          <p:nvPr/>
        </p:nvSpPr>
        <p:spPr>
          <a:xfrm>
            <a:off x="9018494" y="2444674"/>
            <a:ext cx="2223248" cy="3863251"/>
          </a:xfrm>
          <a:prstGeom prst="roundRect">
            <a:avLst>
              <a:gd name="adj" fmla="val 2759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  <p:txBody>
          <a:bodyPr/>
          <a:lstStyle/>
          <a:p>
            <a:endParaRPr lang="fr-FR" dirty="0"/>
          </a:p>
          <a:p>
            <a:r>
              <a:rPr lang="en-US" sz="1350" b="1" dirty="0" err="1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Outils</a:t>
            </a:r>
            <a:endParaRPr lang="en-US" sz="1350" dirty="0"/>
          </a:p>
          <a:p>
            <a:endParaRPr lang="fr-FR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XAMPP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Profiler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Trello</a:t>
            </a:r>
            <a:endParaRPr lang="en-US" sz="1350" dirty="0"/>
          </a:p>
          <a:p>
            <a:endParaRPr lang="fr-FR" dirty="0"/>
          </a:p>
        </p:txBody>
      </p:sp>
      <p:sp>
        <p:nvSpPr>
          <p:cNvPr id="25" name="Shape 12">
            <a:extLst>
              <a:ext uri="{FF2B5EF4-FFF2-40B4-BE49-F238E27FC236}">
                <a16:creationId xmlns:a16="http://schemas.microsoft.com/office/drawing/2014/main" id="{C5F465A9-AD71-6323-41B8-DC22236292A4}"/>
              </a:ext>
            </a:extLst>
          </p:cNvPr>
          <p:cNvSpPr/>
          <p:nvPr/>
        </p:nvSpPr>
        <p:spPr>
          <a:xfrm>
            <a:off x="9190437" y="2601647"/>
            <a:ext cx="384048" cy="73152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3D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082C3E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solidFill>
            <a:srgbClr val="082C3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5975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49433" y="2884978"/>
            <a:ext cx="9875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Présentation du mémoire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506451" y="4348018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0" y="50292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000" b="1" dirty="0">
                <a:solidFill>
                  <a:srgbClr val="082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problématique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8900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fr-FR" sz="1600" dirty="0"/>
              <a:t>Les Data Centers consomment des quantités massives d'électricité pour faire tourner internet, le Cloud et l’IA</a:t>
            </a:r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fr-FR" sz="1600" b="1" dirty="0"/>
              <a:t>95%</a:t>
            </a:r>
            <a:r>
              <a:rPr lang="fr-FR" sz="1600" dirty="0"/>
              <a:t> de cette électricité se transforme en chaleur simplement rejetée dans l'atmosphère</a:t>
            </a:r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fr-FR" sz="1600" dirty="0"/>
              <a:t>Avec l'essor de l'IA, cette consommation explose encore plus vite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2956560" y="3968496"/>
            <a:ext cx="6492240" cy="1417320"/>
          </a:xfrm>
          <a:prstGeom prst="roundRect">
            <a:avLst>
              <a:gd name="adj" fmla="val 5161"/>
            </a:avLst>
          </a:prstGeom>
          <a:solidFill>
            <a:srgbClr val="0B3D56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79694" y="3730752"/>
            <a:ext cx="6006352" cy="1863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 optimiser la performance énergétique des Data Centers Cloud afin de réduire durablement leur empreinte carbone 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589520" y="1920240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9052560" y="1783080"/>
            <a:ext cx="2514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589520" y="3401568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9052560" y="3264408"/>
            <a:ext cx="2514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589520" y="4882896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9052560" y="4745736"/>
            <a:ext cx="2514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Solutions de la littérature et leurs limites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400" i="1" dirty="0">
                <a:solidFill>
                  <a:schemeClr val="accent1">
                    <a:lumMod val="50000"/>
                  </a:schemeClr>
                </a:solidFill>
              </a:rPr>
              <a:t>Ce que la recherche propose</a:t>
            </a:r>
            <a:endParaRPr lang="en-US" sz="1350" i="1" dirty="0">
              <a:solidFill>
                <a:schemeClr val="accent1">
                  <a:lumMod val="50000"/>
                </a:schemeClr>
              </a:solidFill>
            </a:endParaRPr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0384144"/>
              </p:ext>
            </p:extLst>
          </p:nvPr>
        </p:nvGraphicFramePr>
        <p:xfrm>
          <a:off x="548640" y="2057400"/>
          <a:ext cx="11109960" cy="3566160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0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Stratégie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Mécanisme clé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 ciblé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 principale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Optimisation logicielle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Capping &amp; DVFS dynamique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Complexité de l'algorithme de contrôle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Flexibilité géographique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Carbon-Aware Migration (Follow the Sun)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Latence liée au transfert de données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Indépendance énergétique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Éolien direct + BESS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Réseau fossile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Investissement initial (CAPEX) massif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Gestion holistique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multi-objectifs (SHIELD)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 / CUE / WUE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Très grande complexité technique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989320"/>
            <a:ext cx="11109960" cy="640080"/>
          </a:xfrm>
          <a:prstGeom prst="roundRect">
            <a:avLst>
              <a:gd name="adj" fmla="val 11429"/>
            </a:avLst>
          </a:prstGeom>
          <a:solidFill>
            <a:srgbClr val="FDECEA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598932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commune : la chaleur produite par les serveurs reste traitée comme un déchet à éliminer, jamais comme une ressource à valoriser.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7912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HEAT2VALUE : de l'élimination à la valorisation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49240" cy="4251960"/>
          </a:xfrm>
          <a:prstGeom prst="roundRect">
            <a:avLst>
              <a:gd name="adj" fmla="val 1720"/>
            </a:avLst>
          </a:prstGeom>
          <a:solidFill>
            <a:srgbClr val="FDECEA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9202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des approches actuelles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68680" y="2423160"/>
            <a:ext cx="47548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chaleur est systématiquement traitée comme un déchet inévitable</a:t>
            </a:r>
            <a:endParaRPr lang="en-US" sz="13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est évacuée via tours de refroidissement, climatiseurs, évaporation</a:t>
            </a:r>
            <a:endParaRPr lang="en-US" sz="13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paie deux fois : produire l'électricité, puis évacuer la chaleur générée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80760" y="1737360"/>
            <a:ext cx="5577840" cy="4251960"/>
          </a:xfrm>
          <a:prstGeom prst="roundRect">
            <a:avLst>
              <a:gd name="adj" fmla="val 1720"/>
            </a:avLst>
          </a:prstGeom>
          <a:solidFill>
            <a:srgbClr val="EAF5EE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0" y="19202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changement de paradigme HEAT2VALUE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400800" y="2423160"/>
            <a:ext cx="50292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chaleur devient une ressource à exploiter, pas un déchet à éliminer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peut chauffer des bâtiments voisins, alimenter un réseau urbain ou être stockée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Réduction simultanée de l'énergie de refroidissement, du carbone et de l'eau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d'une valeur environnementale nouvelle, mesurée par le HRR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89320" y="2103120"/>
            <a:ext cx="0" cy="3657600"/>
          </a:xfrm>
          <a:prstGeom prst="line">
            <a:avLst/>
          </a:prstGeom>
          <a:noFill/>
          <a:ln w="19050">
            <a:solidFill>
              <a:srgbClr val="DDE3E6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5623560" y="35661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Positionnement : HEAT2VALUE vs solutions existantes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65960"/>
          <a:ext cx="10561320" cy="3840480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Valorisation chaleur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SHIELD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C7CB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WaterWise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C7CB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C7CB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Carbon-Aware Scheduling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C7CB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C7CB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C7CB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Refroidissement par liquide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C7CB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C7CB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C7CB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HEAT2VALUE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5806440"/>
            <a:ext cx="10561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0B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HEAT2VALUE est la seule solution qui intègre simultanément les trois indicateurs classiques tout en ajoutant une quatrième dimension : la valorisation de la chaleur résiduelle.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nouveau KPI : Heat Reuse Ratio (HRR)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0B3D56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737360"/>
            <a:ext cx="452628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HRR = Chaleur réutilisée (kWh) / Chaleur totale produite (kWh)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48640" y="3794760"/>
            <a:ext cx="1005840" cy="502920"/>
          </a:xfrm>
          <a:prstGeom prst="roundRect">
            <a:avLst>
              <a:gd name="adj" fmla="val 10909"/>
            </a:avLst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7947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91640" y="3794760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la chaleur est rejetée — Data Center classique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480560"/>
            <a:ext cx="1005840" cy="502920"/>
          </a:xfrm>
          <a:prstGeom prst="roundRect">
            <a:avLst>
              <a:gd name="adj" fmla="val 10909"/>
            </a:avLst>
          </a:prstGeom>
          <a:solidFill>
            <a:srgbClr val="E67E2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4805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0,80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91640" y="4480560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de la chaleur valorisée — résultat obtenu en hiver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5166360"/>
            <a:ext cx="1005840" cy="502920"/>
          </a:xfrm>
          <a:prstGeom prst="roundRect">
            <a:avLst>
              <a:gd name="adj" fmla="val 10909"/>
            </a:avLst>
          </a:prstGeom>
          <a:solidFill>
            <a:srgbClr val="2E8B57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51663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91640" y="5166360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la chaleur produite est réutilisée — cas idéal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89320" y="1737360"/>
            <a:ext cx="5669280" cy="4343400"/>
          </a:xfrm>
          <a:prstGeom prst="roundRect">
            <a:avLst>
              <a:gd name="adj" fmla="val 1684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09360" y="192024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ce KPI est original et nécessaire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309360" y="2423160"/>
            <a:ext cx="51206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2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PUE, CUE et WUE mesurent uniquement ce qui entre dans le système ou ce qui en sort sous forme de pollution</a:t>
            </a:r>
            <a:endParaRPr lang="en-US" sz="1250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2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d'eux ne s'intéresse à ce que le Data Center produit et pourrait valoriser</a:t>
            </a:r>
            <a:endParaRPr lang="en-US" sz="1250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2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chaleur générée reste invisible dans ces mesures, même lorsqu'elle remplace une chaudière à gaz</a:t>
            </a:r>
            <a:endParaRPr lang="en-US" sz="1250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2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HRR rend visible un impact environnemental positif jusqu'ici ignoré : on mesure ce que l'on choisit de valoriser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nouveau score environnemental global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109960" cy="1554480"/>
          </a:xfrm>
          <a:prstGeom prst="roundRect">
            <a:avLst>
              <a:gd name="adj" fmla="val 4706"/>
            </a:avLst>
          </a:prstGeom>
          <a:solidFill>
            <a:srgbClr val="0B3D56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783080"/>
            <a:ext cx="11109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H2V = α·PUE + β·CUE + γ·WUE − δ·HRR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370332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38862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α, β, γ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443484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 attribués aux trois indicateurs classiques, ajustables selon le context </a:t>
            </a:r>
          </a:p>
        </p:txBody>
      </p:sp>
      <p:sp>
        <p:nvSpPr>
          <p:cNvPr id="10" name="Shape 8"/>
          <p:cNvSpPr/>
          <p:nvPr/>
        </p:nvSpPr>
        <p:spPr>
          <a:xfrm>
            <a:off x="4315968" y="370332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44568" y="38862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44568" y="443484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 attribué à la valorisation thermique : plus il est élevé, plus le système récompense la valorisation de la chaleur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83296" y="370332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11896" y="38862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HRR soustrait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11896" y="443484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500"/>
              </a:lnSpc>
            </a:pPr>
            <a:r>
              <a:rPr lang="fr-FR" sz="1200" dirty="0"/>
              <a:t>Plus le HRR monte → plus le score baisse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172200"/>
            <a:ext cx="11109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score bas signifie une meilleure performance environnementale globale — vision unifiée des quatre indicateurs en une seule valeur.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de l'algorithme : données d'entrée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types de données, collectées toutes les 15 minutes, complémentaires et indissociables 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3566160" cy="3749040"/>
          </a:xfrm>
          <a:prstGeom prst="roundRect">
            <a:avLst>
              <a:gd name="adj" fmla="val 2051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560320"/>
            <a:ext cx="685800" cy="685800"/>
          </a:xfrm>
          <a:prstGeom prst="ellipse">
            <a:avLst/>
          </a:prstGeom>
          <a:solidFill>
            <a:srgbClr val="1B7A8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5603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🖥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22960" y="33832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Données internes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22960" y="3931920"/>
            <a:ext cx="30175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fr-FR" sz="1200" dirty="0"/>
              <a:t>Charge des serveurs (%) </a:t>
            </a:r>
          </a:p>
          <a:p>
            <a:pPr marL="171450" indent="-171450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fr-FR" sz="1200" dirty="0"/>
              <a:t>Puissance consommée (kW) </a:t>
            </a:r>
          </a:p>
          <a:p>
            <a:pPr marL="171450" indent="-171450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fr-FR" sz="1200" dirty="0"/>
              <a:t>95% devient de la chaleur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15968" y="2286000"/>
            <a:ext cx="3566160" cy="3749040"/>
          </a:xfrm>
          <a:prstGeom prst="roundRect">
            <a:avLst>
              <a:gd name="adj" fmla="val 2051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90288" y="2560320"/>
            <a:ext cx="685800" cy="68580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3" name="Text 11"/>
          <p:cNvSpPr/>
          <p:nvPr/>
        </p:nvSpPr>
        <p:spPr>
          <a:xfrm>
            <a:off x="4590288" y="25603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🌡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590288" y="33832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Données météo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590288" y="3931920"/>
            <a:ext cx="30175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fr-FR" sz="1200" dirty="0"/>
              <a:t>Température extérieure (°C) </a:t>
            </a:r>
          </a:p>
          <a:p>
            <a:pPr marL="171450" indent="-171450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fr-FR" sz="1200" dirty="0"/>
              <a:t>Seuil clé : </a:t>
            </a:r>
            <a:r>
              <a:rPr lang="fr-FR" sz="1200" b="1" dirty="0"/>
              <a:t>&lt; 18°C</a:t>
            </a:r>
            <a:r>
              <a:rPr lang="fr-FR" sz="1200" dirty="0"/>
              <a:t> → réutilisation déclenchée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83296" y="2286000"/>
            <a:ext cx="3566160" cy="3749040"/>
          </a:xfrm>
          <a:prstGeom prst="roundRect">
            <a:avLst>
              <a:gd name="adj" fmla="val 2051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57616" y="2560320"/>
            <a:ext cx="685800" cy="6858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8" name="Text 16"/>
          <p:cNvSpPr/>
          <p:nvPr/>
        </p:nvSpPr>
        <p:spPr>
          <a:xfrm>
            <a:off x="8357616" y="25603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357616" y="33832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Données énergétiques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357616" y="3931920"/>
            <a:ext cx="30175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fr-FR" sz="1200" dirty="0"/>
              <a:t>Intensité carbone (</a:t>
            </a:r>
            <a:r>
              <a:rPr lang="fr-FR" sz="1200" dirty="0" err="1"/>
              <a:t>gCO</a:t>
            </a:r>
            <a:r>
              <a:rPr lang="fr-FR" sz="1200" dirty="0"/>
              <a:t>₂/kWh) </a:t>
            </a:r>
          </a:p>
          <a:p>
            <a:pPr marL="171450" indent="-171450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fr-FR" sz="1200" dirty="0"/>
              <a:t>Seuil clé : </a:t>
            </a:r>
            <a:r>
              <a:rPr lang="fr-FR" sz="1200" b="1" dirty="0"/>
              <a:t>&gt; 150 </a:t>
            </a:r>
            <a:r>
              <a:rPr lang="fr-FR" sz="1200" b="1" dirty="0" err="1"/>
              <a:t>gCO</a:t>
            </a:r>
            <a:r>
              <a:rPr lang="fr-FR" sz="1200" b="1" dirty="0"/>
              <a:t>₂/kWh</a:t>
            </a:r>
            <a:r>
              <a:rPr lang="fr-FR" sz="1200" dirty="0"/>
              <a:t> → stockage déclenché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trois options de destination de la chaleur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109960" cy="3108960"/>
        </p:xfrm>
        <a:graphic>
          <a:graphicData uri="http://schemas.openxmlformats.org/drawingml/2006/table">
            <a:tbl>
              <a:tblPr/>
              <a:tblGrid>
                <a:gridCol w="260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9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 de déclenchement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Chaleur valorisée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Pertes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— Réutilisation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Température &lt; 18°C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— Stockage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Carbone &gt; 150 gCO₂/kWh ET réservoir &lt; 90%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— Rejet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Aucune autre option disponible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257800"/>
            <a:ext cx="11109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stricte : la réutilisation est toujours privilégiée, le stockage vient en second, le rejet est le dernier recours.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5897880"/>
            <a:ext cx="11109960" cy="685800"/>
          </a:xfrm>
          <a:prstGeom prst="roundRect">
            <a:avLst>
              <a:gd name="adj" fmla="val 10667"/>
            </a:avLst>
          </a:prstGeom>
          <a:solidFill>
            <a:srgbClr val="EAF5EE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589788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chaleur des serveurs devient une décision environnementale prise toutes les 15 minutes — et non plus un simple déchet thermique.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moteur de décision : logique de priorité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pic>
        <p:nvPicPr>
          <p:cNvPr id="6" name="Image 0" descr="assets/decision_eng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9129" y="1600200"/>
            <a:ext cx="5694023" cy="4892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9202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hiérarchie justifiée :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86800" y="1920240"/>
            <a:ext cx="2971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r">
              <a:spcAft>
                <a:spcPts val="1400"/>
              </a:spcAft>
              <a:buSzPct val="100000"/>
              <a:buChar char="▪"/>
            </a:pPr>
            <a:endParaRPr lang="en-US" sz="1150" dirty="0"/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C569093A-09F7-DE0A-23E1-4FF604268516}"/>
              </a:ext>
            </a:extLst>
          </p:cNvPr>
          <p:cNvSpPr/>
          <p:nvPr/>
        </p:nvSpPr>
        <p:spPr>
          <a:xfrm>
            <a:off x="215153" y="2724912"/>
            <a:ext cx="5579274" cy="950618"/>
          </a:xfrm>
          <a:prstGeom prst="roundRect">
            <a:avLst>
              <a:gd name="adj" fmla="val 10667"/>
            </a:avLst>
          </a:prstGeom>
          <a:solidFill>
            <a:srgbClr val="EAF5EE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  <p:txBody>
          <a:bodyPr/>
          <a:lstStyle/>
          <a:p>
            <a:r>
              <a:rPr lang="fr-FR" dirty="0"/>
              <a:t>Une logique simple, une hiérarchie claire : valoriser d'abord, stocker ensuite, rejeter en dernier recours.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Illustration par des scénarios concrets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66160" cy="4434840"/>
          </a:xfrm>
          <a:prstGeom prst="roundRect">
            <a:avLst>
              <a:gd name="adj" fmla="val 2051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57400"/>
            <a:ext cx="777240" cy="777240"/>
          </a:xfrm>
          <a:prstGeom prst="ellipse">
            <a:avLst/>
          </a:prstGeom>
          <a:solidFill>
            <a:srgbClr val="1B7A8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574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❄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77240" y="29718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Hiver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3388" y="3566160"/>
            <a:ext cx="337826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fr-FR" sz="1400" dirty="0"/>
              <a:t>Temp. &lt; 18°C en continu </a:t>
            </a:r>
          </a:p>
          <a:p>
            <a:pPr marL="285750" indent="-2857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fr-FR" sz="1400" dirty="0"/>
              <a:t>Option A systématique </a:t>
            </a:r>
          </a:p>
          <a:p>
            <a:pPr marL="285750" indent="-2857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fr-FR" sz="1400" dirty="0"/>
              <a:t>Les 4 KPI s'améliorent simultanément </a:t>
            </a:r>
          </a:p>
          <a:p>
            <a:pPr marL="285750" indent="-2857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fr-FR" sz="1400" dirty="0"/>
              <a:t>HRR = </a:t>
            </a:r>
            <a:r>
              <a:rPr lang="fr-FR" sz="1400" b="1" dirty="0"/>
              <a:t>0.80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15968" y="1783080"/>
            <a:ext cx="3566160" cy="4434840"/>
          </a:xfrm>
          <a:prstGeom prst="roundRect">
            <a:avLst>
              <a:gd name="adj" fmla="val 2051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90288" y="2057400"/>
            <a:ext cx="777240" cy="7772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2" name="Text 10"/>
          <p:cNvSpPr/>
          <p:nvPr/>
        </p:nvSpPr>
        <p:spPr>
          <a:xfrm>
            <a:off x="4590288" y="20574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☀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544568" y="29718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Été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473388" y="3566160"/>
            <a:ext cx="322586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fr-FR" sz="1400" dirty="0"/>
              <a:t>Temp. &gt; 18°C + carbone bas </a:t>
            </a:r>
          </a:p>
          <a:p>
            <a:pPr marL="285750" indent="-2857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fr-FR" sz="1400" dirty="0"/>
              <a:t>Option C (rejet) systématique </a:t>
            </a:r>
          </a:p>
          <a:p>
            <a:pPr marL="285750" indent="-2857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fr-FR" sz="1400" dirty="0"/>
              <a:t>Limite saisonnière réelle et assumée </a:t>
            </a:r>
          </a:p>
          <a:p>
            <a:pPr marL="285750" indent="-2857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fr-FR" sz="1400" dirty="0"/>
              <a:t>HRR = </a:t>
            </a:r>
            <a:r>
              <a:rPr lang="fr-FR" sz="1400" b="1" dirty="0"/>
              <a:t>0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83296" y="1764792"/>
            <a:ext cx="3566160" cy="4434840"/>
          </a:xfrm>
          <a:prstGeom prst="roundRect">
            <a:avLst>
              <a:gd name="adj" fmla="val 2051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57616" y="2057400"/>
            <a:ext cx="777240" cy="77724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7" name="Text 15"/>
          <p:cNvSpPr/>
          <p:nvPr/>
        </p:nvSpPr>
        <p:spPr>
          <a:xfrm>
            <a:off x="8357616" y="20574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🍂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311896" y="29718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Transition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66176" y="3566160"/>
            <a:ext cx="310896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fr-FR" sz="1400" dirty="0"/>
              <a:t>Temp. oscille autour de 18°C </a:t>
            </a:r>
          </a:p>
          <a:p>
            <a:pPr marL="285750" indent="-2857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fr-FR" sz="1400" dirty="0"/>
              <a:t>Les 3 options dans la même journée </a:t>
            </a:r>
          </a:p>
          <a:p>
            <a:pPr marL="285750" indent="-2857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fr-FR" sz="1400" dirty="0"/>
              <a:t>Illustre la flexibilité de l'algorithme </a:t>
            </a:r>
          </a:p>
          <a:p>
            <a:pPr marL="285750" indent="-2857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fr-FR" sz="1400" dirty="0"/>
              <a:t>HRR = </a:t>
            </a:r>
            <a:r>
              <a:rPr lang="fr-FR" sz="1400" b="1" dirty="0"/>
              <a:t>37% à 78%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Choix techniques : Python et ses bibliothèques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212080" cy="4297680"/>
          </a:xfrm>
          <a:prstGeom prst="roundRect">
            <a:avLst>
              <a:gd name="adj" fmla="val 1702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9202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Python 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42316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2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Langage de référence de la communauté scientifique en optimisation des infrastructures numériques</a:t>
            </a:r>
            <a:endParaRPr lang="en-US" sz="1250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2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Cohérence avec les pratiques de recherche (SHIELD, Carbon-Aware, Deep RL)</a:t>
            </a:r>
            <a:endParaRPr lang="en-US" sz="1250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2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Écosystème riche de bibliothèques scientifiques</a:t>
            </a:r>
            <a:endParaRPr lang="en-US" sz="1250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2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Accessible, lisible et facilement maintenable — essentiel pour un déploiement industriel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35040" y="1737360"/>
            <a:ext cx="56235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63640" y="1993392"/>
            <a:ext cx="1371600" cy="768096"/>
          </a:xfrm>
          <a:prstGeom prst="roundRect">
            <a:avLst>
              <a:gd name="adj" fmla="val 7143"/>
            </a:avLst>
          </a:prstGeom>
          <a:solidFill>
            <a:srgbClr val="1B7A8C"/>
          </a:solidFill>
          <a:ln/>
        </p:spPr>
      </p:sp>
      <p:sp>
        <p:nvSpPr>
          <p:cNvPr id="10" name="Text 8"/>
          <p:cNvSpPr/>
          <p:nvPr/>
        </p:nvSpPr>
        <p:spPr>
          <a:xfrm>
            <a:off x="6263640" y="1993392"/>
            <a:ext cx="1371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818120" y="173736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Calculs mathématiques : formules du HRR, du Score H2V et des indicateurs classiques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35040" y="3200400"/>
            <a:ext cx="56235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63640" y="3456432"/>
            <a:ext cx="1371600" cy="768096"/>
          </a:xfrm>
          <a:prstGeom prst="roundRect">
            <a:avLst>
              <a:gd name="adj" fmla="val 7143"/>
            </a:avLst>
          </a:prstGeom>
          <a:solidFill>
            <a:srgbClr val="1B7A8C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3456432"/>
            <a:ext cx="1371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818120" y="320040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données temporelles : mesures toutes les 15 minutes sur 24 heures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35040" y="4663440"/>
            <a:ext cx="56235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63640" y="4919472"/>
            <a:ext cx="1371600" cy="768096"/>
          </a:xfrm>
          <a:prstGeom prst="roundRect">
            <a:avLst>
              <a:gd name="adj" fmla="val 7143"/>
            </a:avLst>
          </a:prstGeom>
          <a:solidFill>
            <a:srgbClr val="1B7A8C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4919472"/>
            <a:ext cx="1371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818120" y="466344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des résultats : graphiques de comparaison avant/après HEAT2VALUE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modulaire de l'implémentation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Cinq modules Python indépendants, chacun testable séparément :</a:t>
            </a:r>
            <a:endParaRPr lang="en-US" sz="1350" dirty="0"/>
          </a:p>
        </p:txBody>
      </p:sp>
      <p:pic>
        <p:nvPicPr>
          <p:cNvPr id="7" name="Image 0" descr="assets/architecture_modu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6728" y="1976025"/>
            <a:ext cx="5956151" cy="4460430"/>
          </a:xfrm>
          <a:prstGeom prst="rect">
            <a:avLst/>
          </a:prstGeom>
        </p:spPr>
      </p:pic>
      <p:graphicFrame>
        <p:nvGraphicFramePr>
          <p:cNvPr id="9" name="Table 0">
            <a:extLst>
              <a:ext uri="{FF2B5EF4-FFF2-40B4-BE49-F238E27FC236}">
                <a16:creationId xmlns:a16="http://schemas.microsoft.com/office/drawing/2014/main" id="{A5528959-0386-3F61-EFFA-CBEC2F5167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2190197"/>
              </p:ext>
            </p:extLst>
          </p:nvPr>
        </p:nvGraphicFramePr>
        <p:xfrm>
          <a:off x="548640" y="2069205"/>
          <a:ext cx="4866042" cy="2554689"/>
        </p:xfrm>
        <a:graphic>
          <a:graphicData uri="http://schemas.openxmlformats.org/drawingml/2006/table">
            <a:tbl>
              <a:tblPr/>
              <a:tblGrid>
                <a:gridCol w="1845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03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98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33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Simulateur.py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 err="1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Génère</a:t>
                      </a:r>
                      <a:r>
                        <a:rPr lang="en-US" sz="13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les données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235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Decision.py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1400" dirty="0"/>
                        <a:t>Prend les décisions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09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Kpi.py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1400" dirty="0"/>
                        <a:t>Calcule PUE/CUE/WUE/HRR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1" name="Table 0">
            <a:extLst>
              <a:ext uri="{FF2B5EF4-FFF2-40B4-BE49-F238E27FC236}">
                <a16:creationId xmlns:a16="http://schemas.microsoft.com/office/drawing/2014/main" id="{63D4D899-B92A-14A1-CFFC-D47AE438EF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7714327"/>
              </p:ext>
            </p:extLst>
          </p:nvPr>
        </p:nvGraphicFramePr>
        <p:xfrm>
          <a:off x="548640" y="4639723"/>
          <a:ext cx="4875007" cy="1798369"/>
        </p:xfrm>
        <a:graphic>
          <a:graphicData uri="http://schemas.openxmlformats.org/drawingml/2006/table">
            <a:tbl>
              <a:tblPr/>
              <a:tblGrid>
                <a:gridCol w="18393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56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692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Comparaison.py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Avant vs </a:t>
                      </a:r>
                      <a:r>
                        <a:rPr lang="en-US" sz="1400" dirty="0" err="1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aprés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235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Tests.py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1400" dirty="0"/>
                        <a:t>Données réelles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09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Test_jeu_donnees.py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1400" dirty="0"/>
                        <a:t>12 scénarios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Justification de la simulation &amp; données utilisées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212080" cy="4297680"/>
          </a:xfrm>
          <a:prstGeom prst="roundRect">
            <a:avLst>
              <a:gd name="adj" fmla="val 1702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9202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la simulation ?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68680" y="242316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Data Center est un environnement critique : impossible de tester un algorithme en conditions réelles sans risque</a:t>
            </a:r>
            <a:endParaRPr lang="en-US" sz="12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simulation permet des conditions contrôlées, reproductibles, et une comparaison stricte avec/sans HEAT2VALUE</a:t>
            </a:r>
            <a:endParaRPr lang="en-US" sz="12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tests sont enrichis par des données réelles (Electricity Maps, 2024) pour renforcer la crédibilité des résultats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35040" y="1737360"/>
            <a:ext cx="56235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09360" y="18745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Données simulées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309360" y="224028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 type sur 24h, mesure toutes les 15 min ; charge réaliste faible la nuit, pic en fin d'après-midi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35040" y="3200400"/>
            <a:ext cx="56235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33375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Données réelles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309360" y="370332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Maps 2024 (réseau français) : 15 janvier (hiver), 15 juillet (été), 30 décembre (pic de conso)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35040" y="4663440"/>
            <a:ext cx="56235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09360" y="4800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Jeu de test CSV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309360" y="516636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scénarios construits manuellement : vague de froid, canicule, transitions, pics de carbone, cas extrêmes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simulateur de Data Center — simulateur.py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Génère 96 points de données sur 24h (mesure toutes les 15 min)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des serveurs : progression linéaire 30% → 90% + bruit aléatoire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Puissance max : 1000 kW ; chaleur produite = 0.95 × puissance consommée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Température et carbone générés, ou remplacés par des données réelles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2922495"/>
            <a:ext cx="11064240" cy="573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Extrait des données produites — scénario de référence (15 janvier 2024)</a:t>
            </a:r>
            <a:endParaRPr lang="en-US" sz="1300" dirty="0"/>
          </a:p>
        </p:txBody>
      </p:sp>
      <p:pic>
        <p:nvPicPr>
          <p:cNvPr id="8" name="Image 0" descr="assets/sim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507" y="3639312"/>
            <a:ext cx="10031506" cy="273459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module de décision — decision.py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1248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Reçoit les données du simulateur et évalue les 96 instants de la journée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paramètres fixes : SEUIL_TEMP = 18°C · SEUIL_CARBONE = 150 gCO₂/kWh · CAPACITÉ_RÉSERVOIR = 5000 kWh (limite 90%)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 la décision prise et les quantités de chaleur réutilisée, stockée et rejetée à chaque pas de temps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Décisions prises — scénario hiver (15 janvier 2024)</a:t>
            </a:r>
            <a:endParaRPr lang="en-US" sz="1300" dirty="0"/>
          </a:p>
        </p:txBody>
      </p:sp>
      <p:pic>
        <p:nvPicPr>
          <p:cNvPr id="8" name="Image 0" descr="assets/decision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54" y="3429000"/>
            <a:ext cx="7548282" cy="298076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module de calcul des KPI — kpi.py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212080" cy="9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51206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B3D56"/>
                </a:solidFill>
              </a:rPr>
              <a:t>PUE</a:t>
            </a:r>
            <a:r>
              <a:rPr lang="en-US" sz="1250" dirty="0">
                <a:solidFill>
                  <a:srgbClr val="1E2530"/>
                </a:solidFill>
              </a:rPr>
              <a:t> : puissance IT + refroidissement, qui dépend de la décision (5% réutilisation, 10% stockage, 30% rejet)
</a:t>
            </a:r>
            <a:r>
              <a:rPr lang="en-US" sz="1350" b="1" dirty="0">
                <a:solidFill>
                  <a:srgbClr val="0B3D56"/>
                </a:solidFill>
              </a:rPr>
              <a:t>CUE</a:t>
            </a:r>
            <a:r>
              <a:rPr lang="en-US" sz="1250" dirty="0">
                <a:solidFill>
                  <a:srgbClr val="1E2530"/>
                </a:solidFill>
              </a:rPr>
              <a:t> : émissions totales moins émissions évitées par la valorisation (chaudière à gaz, 200 gCO₂/kWh), plancher à 0
</a:t>
            </a:r>
            <a:r>
              <a:rPr lang="en-US" sz="1350" b="1" dirty="0">
                <a:solidFill>
                  <a:srgbClr val="0B3D56"/>
                </a:solidFill>
              </a:rPr>
              <a:t>WUE</a:t>
            </a:r>
            <a:r>
              <a:rPr lang="en-US" sz="1250" dirty="0">
                <a:solidFill>
                  <a:srgbClr val="1E2530"/>
                </a:solidFill>
              </a:rPr>
              <a:t> : dépend directement de la décision — 0.5 / 0.8 / 1.8 L/kWh selon réutilisation, stockage ou rejet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35040" y="169164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calculés — extrait (15 janvier 2024)</a:t>
            </a:r>
            <a:endParaRPr lang="en-US" sz="1300" dirty="0"/>
          </a:p>
        </p:txBody>
      </p:sp>
      <p:pic>
        <p:nvPicPr>
          <p:cNvPr id="9" name="Image 0" descr="assets/kpi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7059" y="2149346"/>
            <a:ext cx="6133293" cy="311293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 : comparaison avec / sans HEAT2VALUE sur 24h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514779" y="1719072"/>
            <a:ext cx="9131962" cy="3419856"/>
          </a:xfrm>
          <a:prstGeom prst="roundRect">
            <a:avLst>
              <a:gd name="adj" fmla="val 213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6" name="Image 0" descr="assets/comparaison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4507" y="1828800"/>
            <a:ext cx="8912506" cy="3200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53492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542239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-25%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40080" y="594360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 : 1.30 → 1.05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64992" y="53492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364992" y="542239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-80%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3364992" y="594360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 : 221.36 → 43.86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089904" y="53492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089904" y="542239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-75%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089904" y="594360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WUE : 2.0 → 0.5 L/kWh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814816" y="53492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814816" y="542239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0.80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8814816" y="594360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HRR atteint (vs 0)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7288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 : graphique comparatif des indicateurs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pic>
        <p:nvPicPr>
          <p:cNvPr id="6" name="Image 0" descr="assets/comparaison_gra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2706" y="1192307"/>
            <a:ext cx="7110446" cy="528164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196596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B7A8C"/>
                </a:solidFill>
              </a:rPr>
              <a:t>PUE</a:t>
            </a:r>
            <a:r>
              <a:rPr lang="en-US" sz="1100" dirty="0">
                <a:solidFill>
                  <a:srgbClr val="1E2530"/>
                </a:solidFill>
              </a:rPr>
              <a:t> — ligne rouge constante à 1.30 (gaspillage permanent) ; ligne verte à 1.05 (réutilisation continue)
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17397" y="2834641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E67E22"/>
                </a:solidFill>
              </a:rPr>
              <a:t>CUE</a:t>
            </a:r>
            <a:r>
              <a:rPr lang="en-US" sz="1100" dirty="0">
                <a:solidFill>
                  <a:srgbClr val="1E2530"/>
                </a:solidFill>
              </a:rPr>
              <a:t> — les deux courbes augmentent le soir, mais la verte reste nettement sous la rouge grâce aux émissions évitées
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11480" y="3693460"/>
            <a:ext cx="3200400" cy="5916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2E8B57"/>
                </a:solidFill>
              </a:rPr>
              <a:t>WUE</a:t>
            </a:r>
            <a:r>
              <a:rPr lang="en-US" sz="1100" dirty="0">
                <a:solidFill>
                  <a:srgbClr val="1E2530"/>
                </a:solidFill>
              </a:rPr>
              <a:t> — réduction immédiate, constante et très significative de la consommation d'eau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7011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 sur données réelles Electricity Maps (2024)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915014"/>
              </p:ext>
            </p:extLst>
          </p:nvPr>
        </p:nvGraphicFramePr>
        <p:xfrm>
          <a:off x="457200" y="1442422"/>
          <a:ext cx="11292840" cy="2743200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Journée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Température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Carbone moyen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Décision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janvier — hiver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2°C–10°C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gCO₂/kWh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Réutilisation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juillet — été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22°C–35°C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4.75 gCO₂/kWh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décembre — pic conso.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5°C–12°C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gCO₂/kWh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Réutilisation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410634"/>
            <a:ext cx="11292840" cy="6185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réseau électrique français est exceptionnellement propre (4 à 50 gCO₂/kWh réels) : HEAT2VALUE serait encore plus pertinent dans des pays à mix énergétique plus carboné (Allemagne, Pologne).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57200" y="5166360"/>
            <a:ext cx="11292840" cy="1417320"/>
          </a:xfrm>
          <a:prstGeom prst="roundRect">
            <a:avLst>
              <a:gd name="adj" fmla="val 5161"/>
            </a:avLst>
          </a:prstGeom>
          <a:solidFill>
            <a:srgbClr val="EAF5EE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7240" y="525780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 cas — 15 janvier &amp; 30 décembre : CUE nul, les émissions évitées dépassent les émissions produites, HRR = 80%.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585216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saisonnière confirmée — 15 juillet : température et carbone trop bas pour déclencher toute valorisation.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 sur les 12 scénarios : analyse comparative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pic>
        <p:nvPicPr>
          <p:cNvPr id="6" name="Image 0" descr="assets/scenarios12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587" y="1755648"/>
            <a:ext cx="6760149" cy="40355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52360" y="1691640"/>
            <a:ext cx="4297680" cy="1325880"/>
          </a:xfrm>
          <a:prstGeom prst="roundRect">
            <a:avLst>
              <a:gd name="adj" fmla="val 5517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680960" y="1874520"/>
            <a:ext cx="292608" cy="292608"/>
          </a:xfrm>
          <a:prstGeom prst="roundRect">
            <a:avLst>
              <a:gd name="adj" fmla="val 93750"/>
            </a:avLst>
          </a:prstGeom>
          <a:solidFill>
            <a:srgbClr val="2E8B57"/>
          </a:solidFill>
          <a:ln/>
        </p:spPr>
      </p:sp>
      <p:sp>
        <p:nvSpPr>
          <p:cNvPr id="9" name="Text 6"/>
          <p:cNvSpPr/>
          <p:nvPr/>
        </p:nvSpPr>
        <p:spPr>
          <a:xfrm>
            <a:off x="8092440" y="182880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Saison froide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680960" y="2258568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scénarios / 12 → HRR = 80%, PUE = 1.05, WUE = 0.50 : valorisation systématique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452360" y="3200400"/>
            <a:ext cx="4297680" cy="1325880"/>
          </a:xfrm>
          <a:prstGeom prst="roundRect">
            <a:avLst>
              <a:gd name="adj" fmla="val 5517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680960" y="3383280"/>
            <a:ext cx="292608" cy="292608"/>
          </a:xfrm>
          <a:prstGeom prst="roundRect">
            <a:avLst>
              <a:gd name="adj" fmla="val 93750"/>
            </a:avLst>
          </a:prstGeom>
          <a:solidFill>
            <a:srgbClr val="E67E22"/>
          </a:solidFill>
          <a:ln/>
        </p:spPr>
      </p:sp>
      <p:sp>
        <p:nvSpPr>
          <p:cNvPr id="13" name="Text 10"/>
          <p:cNvSpPr/>
          <p:nvPr/>
        </p:nvSpPr>
        <p:spPr>
          <a:xfrm>
            <a:off x="8092440" y="333756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Transition automne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680960" y="3767328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plus riche : les 3 options actives dans la même journée. HRR = 37%, PUE = 1.152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452360" y="4709160"/>
            <a:ext cx="4297680" cy="1325880"/>
          </a:xfrm>
          <a:prstGeom prst="roundRect">
            <a:avLst>
              <a:gd name="adj" fmla="val 5517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680960" y="4892040"/>
            <a:ext cx="292608" cy="292608"/>
          </a:xfrm>
          <a:prstGeom prst="roundRect">
            <a:avLst>
              <a:gd name="adj" fmla="val 93750"/>
            </a:avLst>
          </a:prstGeom>
          <a:solidFill>
            <a:srgbClr val="C0392B"/>
          </a:solidFill>
          <a:ln/>
        </p:spPr>
      </p:sp>
      <p:sp>
        <p:nvSpPr>
          <p:cNvPr id="17" name="Text 14"/>
          <p:cNvSpPr/>
          <p:nvPr/>
        </p:nvSpPr>
        <p:spPr>
          <a:xfrm>
            <a:off x="8092440" y="484632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 saisonnière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7680960" y="5276088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scénarios estivaux : HRR = 0%, PUE = 1.30, WUE = 1.80 — comportement classique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21208"/>
            <a:ext cx="11064240" cy="8414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Métriques et synthèse des résultats par indicateur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109960" cy="960120"/>
          </a:xfrm>
          <a:prstGeom prst="roundRect">
            <a:avLst>
              <a:gd name="adj" fmla="val 7619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938528"/>
            <a:ext cx="960120" cy="548640"/>
          </a:xfrm>
          <a:prstGeom prst="roundRect">
            <a:avLst>
              <a:gd name="adj" fmla="val 10000"/>
            </a:avLst>
          </a:prstGeom>
          <a:solidFill>
            <a:srgbClr val="1B7A8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38528"/>
            <a:ext cx="960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965960" y="1847088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Réf. : 1.30 (refroidissement classique 30%)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852160" y="1847088"/>
            <a:ext cx="5623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Réduction systématique à 1.05 (-19%) dès que la réutilisation est possible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11109960" cy="960120"/>
          </a:xfrm>
          <a:prstGeom prst="roundRect">
            <a:avLst>
              <a:gd name="adj" fmla="val 7619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3035808"/>
            <a:ext cx="960120" cy="548640"/>
          </a:xfrm>
          <a:prstGeom prst="roundRect">
            <a:avLst>
              <a:gd name="adj" fmla="val 10000"/>
            </a:avLst>
          </a:prstGeom>
          <a:solidFill>
            <a:srgbClr val="E67E22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035808"/>
            <a:ext cx="960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965960" y="2944368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Réf. : sans déduction d'émissions évitées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852160" y="2944368"/>
            <a:ext cx="5623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 vers 0 en hiver (réseau propre) ; reste positif mais réduit en été / réseau carboné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11109960" cy="960120"/>
          </a:xfrm>
          <a:prstGeom prst="roundRect">
            <a:avLst>
              <a:gd name="adj" fmla="val 7619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4133088"/>
            <a:ext cx="960120" cy="548640"/>
          </a:xfrm>
          <a:prstGeom prst="roundRect">
            <a:avLst>
              <a:gd name="adj" fmla="val 10000"/>
            </a:avLst>
          </a:prstGeom>
          <a:solidFill>
            <a:srgbClr val="2E8B57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133088"/>
            <a:ext cx="960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WUE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965960" y="4041648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Réf. : 1.8 L/kWh (climatisation par évaporation)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852160" y="4041648"/>
            <a:ext cx="5623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Réduction significative selon le mode de refroidissement retenu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029200"/>
            <a:ext cx="11109960" cy="960120"/>
          </a:xfrm>
          <a:prstGeom prst="roundRect">
            <a:avLst>
              <a:gd name="adj" fmla="val 7619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5230368"/>
            <a:ext cx="960120" cy="548640"/>
          </a:xfrm>
          <a:prstGeom prst="roundRect">
            <a:avLst>
              <a:gd name="adj" fmla="val 10000"/>
            </a:avLst>
          </a:prstGeom>
          <a:solidFill>
            <a:srgbClr val="0B3D56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230368"/>
            <a:ext cx="960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965960" y="5138928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Réf. : 0 (aucune valorisation)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852160" y="5138928"/>
            <a:ext cx="5623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 en scénarios froids, 37%–78% en transition, 0 en été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172200"/>
            <a:ext cx="11109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globale mesurée par le Score H2V — un score bas indique une meilleure performance environnementale.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de l'algorithme et de la démarche de validation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49240" cy="4251960"/>
          </a:xfrm>
          <a:prstGeom prst="roundRect">
            <a:avLst>
              <a:gd name="adj" fmla="val 1720"/>
            </a:avLst>
          </a:prstGeom>
          <a:solidFill>
            <a:srgbClr val="FDECEA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9202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de l'algorithme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68680" y="2423160"/>
            <a:ext cx="475488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saisonnière : aucune valorisation possible en été (température &gt; 18°C, carbone bas)</a:t>
            </a:r>
            <a:endParaRPr lang="en-US" sz="12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Dépendance au contexte géographique : très efficace en climat froid/tempéré</a:t>
            </a:r>
            <a:endParaRPr lang="en-US" sz="12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Dépendance au mix énergétique : réseau français trop propre pour déclencher le stockage</a:t>
            </a:r>
            <a:endParaRPr lang="en-US" sz="12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Simplicité des seuils de décision : fixes, non adaptatifs aux conditions réelles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80760" y="1737360"/>
            <a:ext cx="5577840" cy="4251960"/>
          </a:xfrm>
          <a:prstGeom prst="roundRect">
            <a:avLst>
              <a:gd name="adj" fmla="val 1720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0" y="19202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de la validation par simulation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400800" y="2423160"/>
            <a:ext cx="502920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2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des serveurs simulée par une progression linéaire, moins imprévisible que la réalité</a:t>
            </a:r>
            <a:endParaRPr lang="en-US" sz="1200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2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Coefficients (pertes, refroidissement, eau) issus de la littérature, non spécifiques à une infrastructure réelle</a:t>
            </a:r>
            <a:endParaRPr lang="en-US" sz="1200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2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L'infrastructure de valorisation (réseau, réservoir, connexions) est supposée déjà existante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Perspectives d'amélioration et travaux futurs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66160" cy="2084832"/>
          </a:xfrm>
          <a:prstGeom prst="roundRect">
            <a:avLst>
              <a:gd name="adj" fmla="val 3509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938528"/>
            <a:ext cx="365760" cy="365760"/>
          </a:xfrm>
          <a:prstGeom prst="roundRect">
            <a:avLst>
              <a:gd name="adj" fmla="val 87500"/>
            </a:avLst>
          </a:prstGeom>
          <a:solidFill>
            <a:srgbClr val="E67E2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385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90195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Prévisions météorologiques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514600"/>
            <a:ext cx="310896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Anticiper les besoins plutôt que réagir : stocker la chaleur en avance avant une baisse de température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4315968" y="1737360"/>
            <a:ext cx="3566160" cy="2084832"/>
          </a:xfrm>
          <a:prstGeom prst="roundRect">
            <a:avLst>
              <a:gd name="adj" fmla="val 3509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44568" y="1938528"/>
            <a:ext cx="365760" cy="365760"/>
          </a:xfrm>
          <a:prstGeom prst="roundRect">
            <a:avLst>
              <a:gd name="adj" fmla="val 87500"/>
            </a:avLst>
          </a:prstGeom>
          <a:solidFill>
            <a:srgbClr val="E67E22"/>
          </a:solidFill>
          <a:ln/>
        </p:spPr>
      </p:sp>
      <p:sp>
        <p:nvSpPr>
          <p:cNvPr id="12" name="Text 10"/>
          <p:cNvSpPr/>
          <p:nvPr/>
        </p:nvSpPr>
        <p:spPr>
          <a:xfrm>
            <a:off x="4544568" y="19385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01768" y="190195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Élargir les usages en été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44568" y="2514600"/>
            <a:ext cx="310896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Eau chaude sanitaire, climatisation par absorption, séchage industriel — réduire la limite saisonnière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083296" y="1737360"/>
            <a:ext cx="3566160" cy="2084832"/>
          </a:xfrm>
          <a:prstGeom prst="roundRect">
            <a:avLst>
              <a:gd name="adj" fmla="val 3509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11896" y="1938528"/>
            <a:ext cx="365760" cy="365760"/>
          </a:xfrm>
          <a:prstGeom prst="roundRect">
            <a:avLst>
              <a:gd name="adj" fmla="val 87500"/>
            </a:avLst>
          </a:prstGeom>
          <a:solidFill>
            <a:srgbClr val="E67E22"/>
          </a:solidFill>
          <a:ln/>
        </p:spPr>
      </p:sp>
      <p:sp>
        <p:nvSpPr>
          <p:cNvPr id="17" name="Text 15"/>
          <p:cNvSpPr/>
          <p:nvPr/>
        </p:nvSpPr>
        <p:spPr>
          <a:xfrm>
            <a:off x="8311896" y="19385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769096" y="190195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Seuils adaptatifs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11896" y="2514600"/>
            <a:ext cx="310896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Ajuster dynamiquement le seuil de carbone selon le pays, la saison ou le prix de l'électricité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548640" y="4023360"/>
            <a:ext cx="3566160" cy="2084832"/>
          </a:xfrm>
          <a:prstGeom prst="roundRect">
            <a:avLst>
              <a:gd name="adj" fmla="val 3509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4224528"/>
            <a:ext cx="365760" cy="365760"/>
          </a:xfrm>
          <a:prstGeom prst="roundRect">
            <a:avLst>
              <a:gd name="adj" fmla="val 87500"/>
            </a:avLst>
          </a:prstGeom>
          <a:solidFill>
            <a:srgbClr val="E67E22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2245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418795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Tester des pays plus carbonés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4800600"/>
            <a:ext cx="310896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Allemagne, Pologne — valider l'efficacité dans des contextes énergétiques différents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4315968" y="4023360"/>
            <a:ext cx="3566160" cy="2084832"/>
          </a:xfrm>
          <a:prstGeom prst="roundRect">
            <a:avLst>
              <a:gd name="adj" fmla="val 3509"/>
            </a:avLst>
          </a:prstGeom>
          <a:solidFill>
            <a:srgbClr val="F4F7F8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44568" y="4224528"/>
            <a:ext cx="365760" cy="365760"/>
          </a:xfrm>
          <a:prstGeom prst="roundRect">
            <a:avLst>
              <a:gd name="adj" fmla="val 87500"/>
            </a:avLst>
          </a:prstGeom>
          <a:solidFill>
            <a:srgbClr val="E67E22"/>
          </a:solidFill>
          <a:ln/>
        </p:spPr>
      </p:sp>
      <p:sp>
        <p:nvSpPr>
          <p:cNvPr id="27" name="Text 25"/>
          <p:cNvSpPr/>
          <p:nvPr/>
        </p:nvSpPr>
        <p:spPr>
          <a:xfrm>
            <a:off x="4544568" y="42245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01768" y="418795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3D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Déploiement pilote réel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44568" y="4800600"/>
            <a:ext cx="310896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 universitaire ou PME, à petite échelle, pour affiner les paramètres en conditions réelles</a:t>
            </a:r>
            <a:endParaRPr lang="en-US" sz="108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3D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082C3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valorisant la chaleur plutôt que de l'éliminer, HEAT2VALUE réduit simultanément le PUE, le CUE et le WUE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HRR et le Score H2V offrent une vision unifiée et originale de la performance environnementale des Data Centers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résultats simulés, réels (Electricity Maps) et multi-scénarios convergent vers les mêmes conclusions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limites identifiées — saisonnalité, contexte géographique — ouvrent des perspectives concrètes de recherche et de déploiement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732520" y="1828800"/>
            <a:ext cx="2926080" cy="4206240"/>
          </a:xfrm>
          <a:prstGeom prst="roundRect">
            <a:avLst>
              <a:gd name="adj" fmla="val 2500"/>
            </a:avLst>
          </a:prstGeom>
          <a:solidFill>
            <a:srgbClr val="082C3E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0" y="21488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HRR = 0.80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961120" y="2651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conditions hivernales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144000" y="3200400"/>
            <a:ext cx="2103120" cy="0"/>
          </a:xfrm>
          <a:prstGeom prst="line">
            <a:avLst/>
          </a:prstGeom>
          <a:noFill/>
          <a:ln w="12700">
            <a:solidFill>
              <a:srgbClr val="1B7A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0" y="338328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-19% PUE</a:t>
            </a:r>
            <a:endParaRPr lang="en-US" sz="1400" dirty="0"/>
          </a:p>
          <a:p>
            <a:pPr marL="0" indent="0" algn="ctr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-80% CUE</a:t>
            </a:r>
            <a:endParaRPr lang="en-US" sz="1400" dirty="0"/>
          </a:p>
          <a:p>
            <a:pPr marL="0" indent="0" algn="ctr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-75% WUE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Optimiser la performance énergétique des Data Centers Cloud pour réduire durablement leur empreinte carbone.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3D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solidFill>
            <a:srgbClr val="082C3E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4114800"/>
            <a:ext cx="4572000" cy="4572000"/>
          </a:xfrm>
          <a:prstGeom prst="ellipse">
            <a:avLst/>
          </a:prstGeom>
          <a:solidFill>
            <a:srgbClr val="082C3E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651760"/>
            <a:ext cx="12188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 attention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0" y="365760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0" y="61264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Lamia BELKADI  ·  Master 2 MIAGE  ·  ISOAR  ·  2025/2026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458</TotalTime>
  <Words>2826</Words>
  <Application>Microsoft Office PowerPoint</Application>
  <PresentationFormat>Grand écran</PresentationFormat>
  <Paragraphs>491</Paragraphs>
  <Slides>33</Slides>
  <Notes>33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33</vt:i4>
      </vt:variant>
    </vt:vector>
  </HeadingPairs>
  <TitlesOfParts>
    <vt:vector size="37" baseType="lpstr">
      <vt:lpstr>Arial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belkadilamia38@gmail.com</cp:lastModifiedBy>
  <cp:revision>10</cp:revision>
  <dcterms:created xsi:type="dcterms:W3CDTF">2026-08-05T10:19:45Z</dcterms:created>
  <dcterms:modified xsi:type="dcterms:W3CDTF">2026-08-07T19:09:07Z</dcterms:modified>
</cp:coreProperties>
</file>