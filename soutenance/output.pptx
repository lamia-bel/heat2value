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3374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5818" y="-2011679"/>
            <a:ext cx="5116021" cy="4754879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572000"/>
            <a:ext cx="4389120" cy="4389120"/>
          </a:xfrm>
          <a:prstGeom prst="ellipse">
            <a:avLst/>
          </a:prstGeom>
          <a:solidFill>
            <a:srgbClr val="082C3E"/>
          </a:solidFill>
          <a:ln/>
        </p:spPr>
      </p:sp>
      <p:pic>
        <p:nvPicPr>
          <p:cNvPr id="4" name="Image 0" descr="assets/logo_univ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020"/>
            <a:ext cx="1937170" cy="66039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5" name="Image 1" descr="assets/logo_c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59" y="621792"/>
            <a:ext cx="1846349" cy="66039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6" name="Image 2" descr="assets/logo_isoar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960" y="468744"/>
            <a:ext cx="1714498" cy="68579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7" name="Text 2"/>
          <p:cNvSpPr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DE FIN D'ÉTUDES — MASTER 2 MIAGE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822960" y="26060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Optimisation de l'efficience énergétique et de l'empreinte carbone des Data Centers Cloud</a:t>
            </a:r>
            <a:endParaRPr lang="en-US" sz="3400" dirty="0"/>
          </a:p>
        </p:txBody>
      </p:sp>
      <p:sp>
        <p:nvSpPr>
          <p:cNvPr id="9" name="Text 4"/>
          <p:cNvSpPr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822960" y="4892040"/>
            <a:ext cx="2743200" cy="0"/>
          </a:xfrm>
          <a:prstGeom prst="line">
            <a:avLst/>
          </a:prstGeom>
          <a:noFill/>
          <a:ln w="25400">
            <a:solidFill>
              <a:srgbClr val="E67E2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512064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Réalisé par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Lamia BELKADI
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Tuteur pédagogique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Bachir DJAFRI
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d'apprentissage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Anthony CORTEZ
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 d'accueil : 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ISOAR — Année universitaire 2025/2026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5395410" cy="4718304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70992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B3D5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353671"/>
            <a:ext cx="502920" cy="1206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1682494"/>
            <a:ext cx="3840480" cy="5760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 de l'entreprise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2328134"/>
            <a:ext cx="4480560" cy="34783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L'entreprise ISOAR et ses clients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Le maître d'apprentissage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Les travaux </a:t>
            </a:r>
            <a:r>
              <a:rPr lang="en-US" sz="1450" dirty="0" err="1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effectués</a:t>
            </a: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entreprise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Évolution vers la gestion de projet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E2530"/>
                </a:solidFill>
                <a:ea typeface="Calibri" pitchFamily="34" charset="-122"/>
                <a:cs typeface="Calibri" pitchFamily="34" charset="-120"/>
              </a:rPr>
              <a:t>Technologies et outils utilisés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39839" y="1481328"/>
            <a:ext cx="5502537" cy="4718304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60958" y="1649058"/>
            <a:ext cx="502919" cy="50292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  <p:txBody>
          <a:bodyPr/>
          <a:lstStyle/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</a:t>
            </a:r>
            <a:endParaRPr lang="en-US" dirty="0"/>
          </a:p>
          <a:p>
            <a:endParaRPr lang="fr-FR" dirty="0"/>
          </a:p>
        </p:txBody>
      </p:sp>
      <p:sp>
        <p:nvSpPr>
          <p:cNvPr id="12" name="Text 10"/>
          <p:cNvSpPr/>
          <p:nvPr/>
        </p:nvSpPr>
        <p:spPr>
          <a:xfrm>
            <a:off x="6675120" y="1900518"/>
            <a:ext cx="502920" cy="6598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0" y="1668781"/>
            <a:ext cx="3818965" cy="589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mémoire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720840" y="2328134"/>
            <a:ext cx="4526280" cy="34783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Problématique &amp; contexte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État de l'art &amp; limites des solutions existantes</a:t>
            </a:r>
            <a:endParaRPr lang="en-US" sz="13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HEAT2VALUE : le changement de paradigme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Le nouveau KPI : le HRR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Le nouveau score environnemental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Architecture &amp; fonctionnement de l'algorithme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350" dirty="0"/>
              <a:t>Implémentation en Python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400" dirty="0"/>
              <a:t>Résultats &amp; comparaison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400" dirty="0"/>
              <a:t>Métriques &amp; indicateurs de réalisation</a:t>
            </a:r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fr-FR" sz="1400" dirty="0"/>
              <a:t>Limites &amp; perspectives d'amélioration</a:t>
            </a:r>
            <a:endParaRPr lang="fr-FR" sz="13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1247832" y="1691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23323" y="3131820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Synthèse de l'activité en entreprise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19266" y="299466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082C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L'entreprise ISOAR et ses clients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1292" y="1783080"/>
            <a:ext cx="594360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061880"/>
            <a:ext cx="5212080" cy="3693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Fondée en 1992</a:t>
            </a: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Rungis (94)</a:t>
            </a:r>
          </a:p>
          <a:p>
            <a:pPr>
              <a:lnSpc>
                <a:spcPts val="2000"/>
              </a:lnSpc>
            </a:pPr>
            <a:r>
              <a:rPr lang="fr-FR" sz="1400" dirty="0"/>
              <a:t>Spécialisée dans l'édition de logiciels ERP pour l'industrie</a:t>
            </a:r>
          </a:p>
          <a:p>
            <a:pPr>
              <a:lnSpc>
                <a:spcPts val="2000"/>
              </a:lnSpc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Produit phare : </a:t>
            </a:r>
            <a:r>
              <a:rPr lang="fr-FR" sz="1400" dirty="0"/>
              <a:t>ERP SQUALP</a:t>
            </a:r>
          </a:p>
          <a:p>
            <a:pPr>
              <a:lnSpc>
                <a:spcPts val="2000"/>
              </a:lnSpc>
            </a:pPr>
            <a:r>
              <a:rPr lang="fr-FR" sz="1400" dirty="0"/>
              <a:t>Progiciel de gestion industrielle intégrant la qualité à l'ensemble des processus métiers</a:t>
            </a:r>
          </a:p>
          <a:p>
            <a:pPr>
              <a:lnSpc>
                <a:spcPts val="2000"/>
              </a:lnSpc>
            </a:pPr>
            <a:endParaRPr lang="fr-FR" sz="1400" dirty="0"/>
          </a:p>
          <a:p>
            <a:pPr>
              <a:lnSpc>
                <a:spcPts val="2000"/>
              </a:lnSpc>
            </a:pPr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Mon département : </a:t>
            </a:r>
            <a:r>
              <a:rPr lang="fr-FR" sz="1400" dirty="0"/>
              <a:t>Pôle développement informatique</a:t>
            </a:r>
          </a:p>
          <a:p>
            <a:pPr>
              <a:lnSpc>
                <a:spcPts val="2000"/>
              </a:lnSpc>
            </a:pPr>
            <a:r>
              <a:rPr lang="fr-FR" sz="1400" dirty="0"/>
              <a:t>Développement web/mobile, API REST, évolutions de l'ERP SQUALP</a:t>
            </a:r>
          </a:p>
          <a:p>
            <a:pPr>
              <a:lnSpc>
                <a:spcPts val="2000"/>
              </a:lnSpc>
            </a:pPr>
            <a:endParaRPr lang="fr-FR" sz="1400" dirty="0"/>
          </a:p>
          <a:p>
            <a:pPr>
              <a:lnSpc>
                <a:spcPts val="2000"/>
              </a:lnSpc>
            </a:pPr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Secteurs clients :</a:t>
            </a:r>
            <a:br>
              <a:rPr lang="fr-FR" sz="1400" dirty="0"/>
            </a:br>
            <a:r>
              <a:rPr lang="fr-FR" sz="1400" dirty="0"/>
              <a:t>Bois · Polymères · Médical · Bâtiment · Biologique</a:t>
            </a:r>
          </a:p>
          <a:p>
            <a:pPr>
              <a:lnSpc>
                <a:spcPts val="2000"/>
              </a:lnSpc>
            </a:pP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3940706"/>
            <a:ext cx="4249271" cy="19571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200"/>
              </a:spcAft>
              <a:buSzPct val="100000"/>
            </a:pP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705600" y="1691640"/>
            <a:ext cx="49377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95160" y="18745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Quelques clients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95160" y="2331720"/>
            <a:ext cx="2041264" cy="1159405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11" name="Image 0" descr="assets/client_gascog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100" y="2441449"/>
            <a:ext cx="1083982" cy="4877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04888" y="3063240"/>
            <a:ext cx="21122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Bois — ~3000 employés, cotée en bourse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343016" y="2331720"/>
            <a:ext cx="2041264" cy="1159405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14" name="Image 1" descr="assets/client_polytech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5700" y="2441448"/>
            <a:ext cx="1231900" cy="55435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619488" y="3063240"/>
            <a:ext cx="21122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de polymères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995160" y="3600853"/>
            <a:ext cx="2041264" cy="1218035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17" name="Image 2" descr="assets/client_flexelec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3320" y="3734698"/>
            <a:ext cx="1259840" cy="56692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104888" y="4333005"/>
            <a:ext cx="2112264" cy="440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hors gel &amp; maintien en température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343016" y="3566161"/>
            <a:ext cx="2041264" cy="1234440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20" name="Image 3" descr="assets/client_age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896" y="3661905"/>
            <a:ext cx="1173480" cy="52806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19488" y="4343400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Secteur du bâtiment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995160" y="4928616"/>
            <a:ext cx="2041264" cy="1032913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23" name="Image 4" descr="assets/client_imc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1100" y="4983481"/>
            <a:ext cx="1155700" cy="514309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04888" y="5565827"/>
            <a:ext cx="2112264" cy="5606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du consommable médical (Algérie)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9343016" y="4915168"/>
            <a:ext cx="2041264" cy="1032913"/>
          </a:xfrm>
          <a:prstGeom prst="roundRect">
            <a:avLst>
              <a:gd name="adj" fmla="val 5161"/>
            </a:avLst>
          </a:prstGeom>
          <a:solidFill>
            <a:srgbClr val="F4F7F8"/>
          </a:solidFill>
          <a:ln/>
        </p:spPr>
      </p:sp>
      <p:pic>
        <p:nvPicPr>
          <p:cNvPr id="26" name="Image 5" descr="assets/client_sobi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5700" y="4996392"/>
            <a:ext cx="1151218" cy="51804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619488" y="5623560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certifiés BIO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maître d'apprentissage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011680"/>
            <a:ext cx="822960" cy="822960"/>
          </a:xfrm>
          <a:prstGeom prst="ellipse">
            <a:avLst/>
          </a:prstGeom>
          <a:solidFill>
            <a:srgbClr val="0B3D5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</a:t>
            </a:r>
            <a:endParaRPr lang="en-US" sz="1980" dirty="0"/>
          </a:p>
        </p:txBody>
      </p:sp>
      <p:sp>
        <p:nvSpPr>
          <p:cNvPr id="8" name="Text 6"/>
          <p:cNvSpPr/>
          <p:nvPr/>
        </p:nvSpPr>
        <p:spPr>
          <a:xfrm>
            <a:off x="1874520" y="20848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Anthony CORTEZ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74520" y="2487168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 principal / Responsable technique et projets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316940"/>
            <a:ext cx="4480560" cy="267237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du développement, de la maintenance et de l'évolution de l'ERP SQUALP (Delphi / SQL Server)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complète des projets clients et analyse des besoins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des cahiers des charges et suivi des plannings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technique et formation des </a:t>
            </a:r>
            <a:r>
              <a:rPr lang="en-US" sz="1300" dirty="0" err="1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300" dirty="0">
              <a:solidFill>
                <a:srgbClr val="1E253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852160" y="1691640"/>
            <a:ext cx="58064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874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de l'équipe de développement</a:t>
            </a:r>
            <a:endParaRPr lang="en-US" sz="1400" dirty="0"/>
          </a:p>
        </p:txBody>
      </p:sp>
      <p:pic>
        <p:nvPicPr>
          <p:cNvPr id="13" name="Image 0" descr="assets/orgchar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720226"/>
            <a:ext cx="5394960" cy="2834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travaux </a:t>
            </a:r>
            <a:r>
              <a:rPr lang="en-US" sz="300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réalisés</a:t>
            </a: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chez ISOAR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65960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938528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SQUALP Web</a:t>
            </a:r>
            <a:endParaRPr lang="en-US" sz="145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2450592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Adaptation de l'ERP vers le web/mobile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Transfert de stocks, inventaires, ordres de services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Interfaces réactives + scanner de codes-barres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Fenêtres modales pour gestion d'articles</a:t>
            </a:r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1" name="Shape 9"/>
          <p:cNvSpPr/>
          <p:nvPr/>
        </p:nvSpPr>
        <p:spPr>
          <a:xfrm>
            <a:off x="6492240" y="1965960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659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1938528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Projet IXAO</a:t>
            </a:r>
            <a:endParaRPr lang="en-US" sz="145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37960" y="2450592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Système de gestion des demandes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Évolutions </a:t>
            </a:r>
            <a:r>
              <a:rPr lang="fr-FR" sz="1200" dirty="0" err="1"/>
              <a:t>front-end</a:t>
            </a:r>
            <a:r>
              <a:rPr lang="fr-FR" sz="1200" dirty="0"/>
              <a:t> &amp; </a:t>
            </a:r>
            <a:r>
              <a:rPr lang="fr-FR" sz="1200" dirty="0" err="1"/>
              <a:t>back-end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Nouvelles fonctionnalités &amp; amélioration UX</a:t>
            </a:r>
          </a:p>
        </p:txBody>
      </p:sp>
      <p:sp>
        <p:nvSpPr>
          <p:cNvPr id="15" name="Shape 13"/>
          <p:cNvSpPr/>
          <p:nvPr/>
        </p:nvSpPr>
        <p:spPr>
          <a:xfrm>
            <a:off x="534745" y="4050792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279392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4251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API REST — Gascogne Bois</a:t>
            </a:r>
            <a:endParaRPr lang="en-US" sz="145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2960" y="4764024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Conception d'APIs en JavaScript &amp; PHP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Module des commandes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Procédures stockées SQL + tests Postman</a:t>
            </a:r>
          </a:p>
        </p:txBody>
      </p:sp>
      <p:sp>
        <p:nvSpPr>
          <p:cNvPr id="20" name="Shape 18"/>
          <p:cNvSpPr/>
          <p:nvPr/>
        </p:nvSpPr>
        <p:spPr>
          <a:xfrm>
            <a:off x="6263640" y="4050792"/>
            <a:ext cx="544068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21" name="Shape 19"/>
          <p:cNvSpPr/>
          <p:nvPr/>
        </p:nvSpPr>
        <p:spPr>
          <a:xfrm>
            <a:off x="6492240" y="4279392"/>
            <a:ext cx="384048" cy="384048"/>
          </a:xfrm>
          <a:prstGeom prst="roundRect">
            <a:avLst>
              <a:gd name="adj" fmla="val 95238"/>
            </a:avLst>
          </a:prstGeom>
          <a:solidFill>
            <a:srgbClr val="1B7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251960"/>
            <a:ext cx="4434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600" b="1" dirty="0">
                <a:solidFill>
                  <a:schemeClr val="accent1">
                    <a:lumMod val="50000"/>
                  </a:schemeClr>
                </a:solidFill>
              </a:rPr>
              <a:t>Statistiques Ventes</a:t>
            </a:r>
            <a:r>
              <a:rPr lang="fr-FR" sz="16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fr-FR" sz="1600" i="1" dirty="0">
                <a:solidFill>
                  <a:schemeClr val="accent1">
                    <a:lumMod val="50000"/>
                  </a:schemeClr>
                </a:solidFill>
              </a:rPr>
              <a:t>(mission actuelle)</a:t>
            </a:r>
            <a:endParaRPr lang="en-US" sz="14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37960" y="4764024"/>
            <a:ext cx="4892040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/>
              <a:t>Développement d'un module de visualisation de données</a:t>
            </a:r>
          </a:p>
          <a:p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Graphiques interactifs avec </a:t>
            </a:r>
            <a:r>
              <a:rPr lang="fr-FR" sz="1200" b="1" dirty="0"/>
              <a:t>Chart.js</a:t>
            </a:r>
            <a:r>
              <a:rPr lang="fr-FR" sz="1200" dirty="0"/>
              <a:t> (barres, camembert, courbes)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Comparaison annuelle CA/Coût/Marge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Export PDF et impression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Données dynamiques via API REST &amp; SQL Server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Évolution des missions vers la gestion de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7553" y="1737359"/>
            <a:ext cx="5027407" cy="4874111"/>
          </a:xfrm>
          <a:prstGeom prst="roundRect">
            <a:avLst>
              <a:gd name="adj" fmla="val 172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6" name="Text 4"/>
          <p:cNvSpPr/>
          <p:nvPr/>
        </p:nvSpPr>
        <p:spPr>
          <a:xfrm>
            <a:off x="466165" y="1965960"/>
            <a:ext cx="41058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 de </a:t>
            </a:r>
            <a:r>
              <a:rPr lang="en-US" sz="150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8463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3400" y="2331719"/>
            <a:ext cx="4861560" cy="42797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1700"/>
              </a:lnSpc>
            </a:pPr>
            <a:r>
              <a:rPr lang="fr-FR" sz="1400" dirty="0"/>
              <a:t>Mon rôle a évolué au fil de l'alternance avec une montée en autonomie progressive, m'ouvrant à des responsabilités de gestion de projet aux côtés de mon maître d'apprentissage.</a:t>
            </a:r>
          </a:p>
          <a:p>
            <a:pPr>
              <a:lnSpc>
                <a:spcPts val="1700"/>
              </a:lnSpc>
            </a:pPr>
            <a:endParaRPr lang="fr-FR" sz="1400" dirty="0"/>
          </a:p>
          <a:p>
            <a:r>
              <a:rPr lang="fr-FR" sz="1400" b="1" dirty="0">
                <a:solidFill>
                  <a:schemeClr val="accent1">
                    <a:lumMod val="50000"/>
                  </a:schemeClr>
                </a:solidFill>
              </a:rPr>
              <a:t>Ce que ça implique concrètement :</a:t>
            </a:r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Analyse des besoins fonctionnels</a:t>
            </a:r>
            <a:br>
              <a:rPr lang="fr-FR" sz="1400" dirty="0"/>
            </a:br>
            <a:r>
              <a:rPr lang="fr-FR" sz="1400" dirty="0"/>
              <a:t>Recueil et compréhension des besoins clients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Priorisation des tâches</a:t>
            </a:r>
            <a:br>
              <a:rPr lang="fr-FR" sz="1400" dirty="0"/>
            </a:br>
            <a:r>
              <a:rPr lang="fr-FR" sz="1400" dirty="0"/>
              <a:t>Organisation et planification des développements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Suivi des projets</a:t>
            </a:r>
            <a:br>
              <a:rPr lang="fr-FR" sz="1400" dirty="0"/>
            </a:br>
            <a:r>
              <a:rPr lang="fr-FR" sz="1400" dirty="0"/>
              <a:t>Coordination des phases et respect des délais</a:t>
            </a:r>
          </a:p>
          <a:p>
            <a:endParaRPr lang="fr-F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b="1" dirty="0"/>
              <a:t>Coordination des équipes</a:t>
            </a:r>
            <a:br>
              <a:rPr lang="fr-FR" sz="1400" dirty="0"/>
            </a:br>
            <a:r>
              <a:rPr lang="fr-FR" sz="1400" dirty="0"/>
              <a:t>Lien entre les différentes phases de développement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400" dirty="0"/>
          </a:p>
          <a:p>
            <a:pPr>
              <a:lnSpc>
                <a:spcPts val="1700"/>
              </a:lnSpc>
            </a:pP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Vision plus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cycle de vie des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informatiques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</a:t>
            </a:r>
            <a:r>
              <a:rPr lang="en-US" sz="14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>
              <a:lnSpc>
                <a:spcPts val="1700"/>
              </a:lnSpc>
            </a:pP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714999" y="1737360"/>
            <a:ext cx="6109447" cy="4874110"/>
          </a:xfrm>
          <a:prstGeom prst="roundRect">
            <a:avLst>
              <a:gd name="adj" fmla="val 1720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0" name="Text 8"/>
          <p:cNvSpPr/>
          <p:nvPr/>
        </p:nvSpPr>
        <p:spPr>
          <a:xfrm>
            <a:off x="66294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et </a:t>
            </a:r>
            <a:r>
              <a:rPr lang="en-US" sz="16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</a:t>
            </a: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600" b="1" dirty="0" err="1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utilisés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629400" y="24231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29400" y="34290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000"/>
              </a:spcAft>
              <a:buSzPct val="100000"/>
            </a:pP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29400" y="5074920"/>
            <a:ext cx="4800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A66712AE-77E7-3BB6-C44B-1674B9A840F3}"/>
              </a:ext>
            </a:extLst>
          </p:cNvPr>
          <p:cNvSpPr/>
          <p:nvPr/>
        </p:nvSpPr>
        <p:spPr>
          <a:xfrm>
            <a:off x="6189234" y="2444674"/>
            <a:ext cx="1780390" cy="1779853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  <a:p>
            <a:r>
              <a:rPr lang="en-US" sz="135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Langages</a:t>
            </a:r>
            <a:endParaRPr lang="en-US" sz="1350" b="1" dirty="0">
              <a:solidFill>
                <a:srgbClr val="0B3D56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350" dirty="0"/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Delphi (lecture</a:t>
            </a:r>
            <a:r>
              <a:rPr lang="en-US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dirty="0"/>
          </a:p>
          <a:p>
            <a:endParaRPr lang="fr-FR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4F524EE8-AEC7-0930-6A7A-C7BCD842156C}"/>
              </a:ext>
            </a:extLst>
          </p:cNvPr>
          <p:cNvSpPr/>
          <p:nvPr/>
        </p:nvSpPr>
        <p:spPr>
          <a:xfrm>
            <a:off x="6245351" y="2601647"/>
            <a:ext cx="384048" cy="73152"/>
          </a:xfrm>
          <a:prstGeom prst="roundRect">
            <a:avLst>
              <a:gd name="adj" fmla="val 50000"/>
            </a:avLst>
          </a:prstGeom>
          <a:solidFill>
            <a:srgbClr val="1B7A8C"/>
          </a:solidFill>
          <a:ln/>
        </p:spPr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46411B72-E048-22EB-C74A-9CFA988A056E}"/>
              </a:ext>
            </a:extLst>
          </p:cNvPr>
          <p:cNvSpPr/>
          <p:nvPr/>
        </p:nvSpPr>
        <p:spPr>
          <a:xfrm>
            <a:off x="6189234" y="4528072"/>
            <a:ext cx="1780390" cy="1779853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  <a:p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données</a:t>
            </a:r>
          </a:p>
          <a:p>
            <a:endParaRPr lang="en-US" sz="135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</a:t>
            </a:r>
            <a:endParaRPr lang="en-US" sz="1350" dirty="0"/>
          </a:p>
          <a:p>
            <a:endParaRPr lang="fr-FR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877B23FF-C392-4E6A-E976-8FF50F39F918}"/>
              </a:ext>
            </a:extLst>
          </p:cNvPr>
          <p:cNvSpPr/>
          <p:nvPr/>
        </p:nvSpPr>
        <p:spPr>
          <a:xfrm>
            <a:off x="6279869" y="4691858"/>
            <a:ext cx="384048" cy="73152"/>
          </a:xfrm>
          <a:prstGeom prst="roundRect">
            <a:avLst>
              <a:gd name="adj" fmla="val 50000"/>
            </a:avLst>
          </a:prstGeom>
          <a:solidFill>
            <a:srgbClr val="0B3D56"/>
          </a:solidFill>
          <a:ln/>
        </p:spPr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D4644795-FDD5-5A34-0830-D0AA78504161}"/>
              </a:ext>
            </a:extLst>
          </p:cNvPr>
          <p:cNvSpPr/>
          <p:nvPr/>
        </p:nvSpPr>
        <p:spPr>
          <a:xfrm>
            <a:off x="9018494" y="2444674"/>
            <a:ext cx="2223248" cy="3863251"/>
          </a:xfrm>
          <a:prstGeom prst="roundRect">
            <a:avLst>
              <a:gd name="adj" fmla="val 275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  <p:txBody>
          <a:bodyPr/>
          <a:lstStyle/>
          <a:p>
            <a:endParaRPr lang="fr-FR" dirty="0"/>
          </a:p>
          <a:p>
            <a:r>
              <a:rPr lang="en-US" sz="1350" b="1" dirty="0" err="1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</a:t>
            </a:r>
            <a:endParaRPr lang="en-US" sz="1350" dirty="0"/>
          </a:p>
          <a:p>
            <a:endParaRPr lang="fr-FR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XAMPP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Profiler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</a:t>
            </a:r>
            <a:endParaRPr lang="en-US" sz="1350" dirty="0"/>
          </a:p>
          <a:p>
            <a:endParaRPr lang="fr-FR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C5F465A9-AD71-6323-41B8-DC22236292A4}"/>
              </a:ext>
            </a:extLst>
          </p:cNvPr>
          <p:cNvSpPr/>
          <p:nvPr/>
        </p:nvSpPr>
        <p:spPr>
          <a:xfrm>
            <a:off x="9190437" y="2601647"/>
            <a:ext cx="384048" cy="73152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5975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49433" y="2884978"/>
            <a:ext cx="9875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mémoire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506451" y="4348018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000" b="1" dirty="0">
                <a:solidFill>
                  <a:srgbClr val="082C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&amp; problématique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Data Centers, piliers du numérique, consomment des quantités massives d'électricité et rejettent beaucoup de CO₂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L'essor de l'intelligence artificielle amplifie cette consommation encore plus rapidement</a:t>
            </a:r>
            <a:endParaRPr lang="en-US" sz="15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infrastructures doivent rester performantes tout en réduisant leur impact environnemental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6492240" cy="1417320"/>
          </a:xfrm>
          <a:prstGeom prst="roundRect">
            <a:avLst>
              <a:gd name="adj" fmla="val 5161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4617720"/>
            <a:ext cx="5943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optimiser la performance énergétique des Data Centers Cloud afin de réduire durablement leur empreinte carbone 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297680" cy="1280160"/>
          </a:xfrm>
          <a:prstGeom prst="roundRect">
            <a:avLst>
              <a:gd name="adj" fmla="val 571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0" y="192024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052560" y="1783080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Efficacité électrique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60920" y="3264408"/>
            <a:ext cx="4297680" cy="1280160"/>
          </a:xfrm>
          <a:prstGeom prst="roundRect">
            <a:avLst>
              <a:gd name="adj" fmla="val 571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3401568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052560" y="3264408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Émissions de carbone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4745736"/>
            <a:ext cx="4297680" cy="1280160"/>
          </a:xfrm>
          <a:prstGeom prst="roundRect">
            <a:avLst>
              <a:gd name="adj" fmla="val 571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89520" y="4882896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WUE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52560" y="4745736"/>
            <a:ext cx="2514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d'eau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Solutions de la littérature et leurs limites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piliers d'optimisation identifiés dans la recherche récente (2024-2025)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109960" cy="356616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Stratégie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Mécanisme clé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ciblé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 principale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Optimisation logicielle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Capping &amp; DVFS dynamique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 de l'algorithme de contrôle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Flexibilité géographique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Carbon-Aware Migration (Follow the Sun)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Latence liée au transfert de données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Indépendance énergétique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Éolien direct + BESS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fossile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Investissement initial (CAPEX) massif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 holistique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multi-objectifs (SHIELD)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 / CUE / WUE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Très grande complexité technique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989320"/>
            <a:ext cx="11109960" cy="640080"/>
          </a:xfrm>
          <a:prstGeom prst="roundRect">
            <a:avLst>
              <a:gd name="adj" fmla="val 11429"/>
            </a:avLst>
          </a:prstGeom>
          <a:solidFill>
            <a:srgbClr val="FDECEA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9893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commune : la chaleur produite par les serveurs reste traitée comme un déchet à éliminer, jamais comme une ressource à valoriser.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LA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HEAT2VALUE : de l'élimination à la valorisation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FDECEA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des approches actuelles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est systématiquement traitée comme un déchet inévitable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est évacuée via tours de refroidissement, climatiseurs, évaporation</a:t>
            </a:r>
            <a:endParaRPr lang="en-US" sz="13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paie deux fois : produire l'électricité, puis évacuer la chaleur générée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577840" cy="4251960"/>
          </a:xfrm>
          <a:prstGeom prst="roundRect">
            <a:avLst>
              <a:gd name="adj" fmla="val 1720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changement de paradigme HEAT2VALUE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0" y="2423160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devient une ressource à exploiter, pas un déchet à éliminer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peut chauffer des bâtiments voisins, alimenter un réseau urbain ou être stockée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simultanée de l'énergie de refroidissement, du carbone et de l'eau</a:t>
            </a:r>
            <a:endParaRPr lang="en-US" sz="13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d'une valeur environnementale nouvelle, mesurée par le HRR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2103120"/>
            <a:ext cx="0" cy="3657600"/>
          </a:xfrm>
          <a:prstGeom prst="line">
            <a:avLst/>
          </a:prstGeom>
          <a:noFill/>
          <a:ln w="19050">
            <a:solidFill>
              <a:srgbClr val="DDE3E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623560" y="35661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POSITIONNEMENT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Positionnement : HEAT2VALUE vs solutions existantes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965960"/>
          <a:ext cx="10561320" cy="3840480"/>
        </p:xfrm>
        <a:graphic>
          <a:graphicData uri="http://schemas.openxmlformats.org/drawingml/2006/table">
            <a:tbl>
              <a:tblPr/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Valorisation chaleur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WaterWise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Carbon-Aware Scheduling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Refroidissement par liquide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C7CBC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HEAT2VALUE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806440"/>
            <a:ext cx="10561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i="1" dirty="0">
                <a:solidFill>
                  <a:srgbClr val="0B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HEAT2VALUE est la seule solution qui intègre simultanément les trois indicateurs classiques tout en ajoutant une quatrième dimension : la valorisation de la chaleur résiduelle.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CONTRIBUTION ORIGINALE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nouveau KPI : Heat Reuse Ratio (HRR)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52628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= Chaleur réutilisée (kWh) / Chaleur totale produite (kWh)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7947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37947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chaleur est rejetée — Data Center classique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E67E2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4805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44805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de la chaleur valorisée — résultat obtenu en hiver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166360"/>
            <a:ext cx="1005840" cy="502920"/>
          </a:xfrm>
          <a:prstGeom prst="roundRect">
            <a:avLst>
              <a:gd name="adj" fmla="val 10909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166360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91640" y="5166360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chaleur produite est réutilisée — cas idéal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737360"/>
            <a:ext cx="5669280" cy="4343400"/>
          </a:xfrm>
          <a:prstGeom prst="roundRect">
            <a:avLst>
              <a:gd name="adj" fmla="val 1684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19202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ce KPI est original et nécessaire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309360" y="2423160"/>
            <a:ext cx="5120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PUE, CUE et WUE mesurent uniquement ce qui entre dans le système ou ce qui en sort sous forme de pollution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d'eux ne s'intéresse à ce que le Data Center produit et pourrait valoriser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générée reste invisible dans ces mesures, même lorsqu'elle remplace une chaudière à gaz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HRR rend visible un impact environnemental positif jusqu'ici ignoré : on mesure ce que l'on choisit de valoriser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SCORE H2V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nouveau score environnemental global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0B3D56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783080"/>
            <a:ext cx="111099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H2V = α·PUE + β·CUE + γ·WUE − δ·HRR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α, β, 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attribués aux trois indicateurs classiques, ajustables selon le contexte (ex. augmenter γ en zone de stress hydrique)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44568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attribué à la valorisation thermique : plus il est élevé, plus le système récompense la valorisation de la chaleur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370332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11896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soustrait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4434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Volontairement soustrait : plus il est élevé, plus le bilan est bon, donc plus le score global doit baisser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bas signifie une meilleure performance environnementale globale — vision unifiée des quatre indicateurs en une seule valeur.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FONCTIONNEMENT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de l'algorithme : données d'entrée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types de données, collectées toutes les 15 minutes, complémentaires et indissociables 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60320"/>
            <a:ext cx="685800" cy="685800"/>
          </a:xfrm>
          <a:prstGeom prst="ellipse">
            <a:avLst/>
          </a:prstGeom>
          <a:solidFill>
            <a:srgbClr val="1B7A8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internes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travail des serveurs. 95% de l'électricité consommée se transforme en chaleur : c'est le point de départ de toute décision.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0288" y="2560320"/>
            <a:ext cx="685800" cy="6858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590288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🌡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90288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météo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90288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extérieure. Sous 18°C, les bâtiments voisins ont besoin de chauffage — seuil qui déclenche ou non la réutilisation.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2286000"/>
            <a:ext cx="3566160" cy="37490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57616" y="2560320"/>
            <a:ext cx="685800" cy="6858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8357616" y="25603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57616" y="33832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énergétiques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357616" y="3931920"/>
            <a:ext cx="30175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Intensité carbone du réseau (gCO₂/kWh). Guide la décision de stocker la chaleur quand le réseau est polluant.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FONCTIONNEMENT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trois options de destination de la chaleur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109960" cy="3108960"/>
        </p:xfrm>
        <a:graphic>
          <a:graphicData uri="http://schemas.openxmlformats.org/drawingml/2006/table">
            <a:tbl>
              <a:tblPr/>
              <a:tblGrid>
                <a:gridCol w="2606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de déclenchement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Chaleur valorisée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Réutilisation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&lt; 18°C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Stockage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Carbone &gt; 150 gCO₂/kWh ET réservoir &lt; 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7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Rejet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Aucune autre option disponible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578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stricte : la réutilisation est toujours privilégiée, le stockage vient en second, le rejet est le dernier recours.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589788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589788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chaleur des serveurs devient une décision environnementale prise toutes les 15 minutes — et non plus un simple déchet thermique.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FONCTIONNEMENT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moteur de décision : logique de priorité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848483" y="1490472"/>
            <a:ext cx="4464555" cy="5111496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6" name="Image 0" descr="assets/decision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211" y="1600200"/>
            <a:ext cx="4245099" cy="4892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hiérarchie justifiée 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0" y="1920240"/>
            <a:ext cx="29718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 algn="r">
              <a:spcAft>
                <a:spcPts val="1400"/>
              </a:spcAft>
              <a:buSzPct val="100000"/>
              <a:buChar char="▪"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Réutilisation prioritaire : valorisation immédiate, sans délai ni perte supplémentaire</a:t>
            </a:r>
            <a:endParaRPr lang="en-US" sz="1150" dirty="0"/>
          </a:p>
          <a:p>
            <a:pPr marL="228600" indent="-228600" algn="r">
              <a:spcAft>
                <a:spcPts val="1400"/>
              </a:spcAft>
              <a:buSzPct val="100000"/>
              <a:buChar char="▪"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en 2ème position : différer la valorisation quand le réseau est polluant</a:t>
            </a:r>
            <a:endParaRPr lang="en-US" sz="1150" dirty="0"/>
          </a:p>
          <a:p>
            <a:pPr marL="228600" indent="-228600" algn="r">
              <a:spcAft>
                <a:spcPts val="1400"/>
              </a:spcAft>
              <a:buSzPct val="100000"/>
              <a:buChar char="▪"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 en dernier recours : correspond au Data Center classique, ce que HEAT2VALUE évite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COMPORTEMENT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Illustration par des scénarios concrets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57400"/>
            <a:ext cx="777240" cy="777240"/>
          </a:xfrm>
          <a:prstGeom prst="ellipse">
            <a:avLst/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Hiver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566160"/>
            <a:ext cx="301752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&lt; 18°C en continu → Option A systématique. Valorisation continue, meilleur scénario pour HEAT2VALUE : les 4 indicateurs s'améliorent simultanément.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5968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90288" y="2057400"/>
            <a:ext cx="777240" cy="77724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☀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44568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90288" y="3566160"/>
            <a:ext cx="301752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&gt; 18°C, carbone bas (nucléaire/solaire) → Option C (rejet classique). Limite saisonnière réelle et assumée de l'algorithme.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83296" y="178308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057400"/>
            <a:ext cx="777240" cy="77724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8357616" y="20574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🍂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11896" y="2971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57616" y="3566160"/>
            <a:ext cx="301752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oscille autour de 18°C → les 3 options interviennent dans la même journée. Illustre au mieux la flexibilité et l'adaptabilité de l'algorithme.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2 — FAISABILITÉ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techniques : Python et ses bibliothèques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Python 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 de référence de la communauté scientifique en optimisation des infrastructures numériques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avec les pratiques de recherche (SHIELD, Carbon-Aware, Deep RL)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Écosystème riche de bibliothèques scientifiques</a:t>
            </a:r>
            <a:endParaRPr lang="en-US" sz="125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Accessible, lisible et facilement maintenable — essentiel pour un déploiement industriel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99339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0" name="Text 8"/>
          <p:cNvSpPr/>
          <p:nvPr/>
        </p:nvSpPr>
        <p:spPr>
          <a:xfrm>
            <a:off x="6263640" y="199339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18120" y="17373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Calculs mathématiques : formules du HRR, du Score H2V et des indicateurs classiques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320040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345643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345643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818120" y="32004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données temporelles : mesures toutes les 15 minutes sur 24 heures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466344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4919472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1B7A8C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4919472"/>
            <a:ext cx="1371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818120" y="4663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des résultats : graphiques de comparaison avant/après HEAT2VALUE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Chapitre 3 — Architecture modulaire de l'implémentation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modules Python indépendants, chacun testable séparément :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907792" y="1866297"/>
            <a:ext cx="6345936" cy="4679886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7" name="Image 0" descr="assets/architecture_mod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976025"/>
            <a:ext cx="6126480" cy="44604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Justification de la simulation &amp; données utilisées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la simulation ?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 Center est un environnement critique : impossible de tester un algorithme en conditions réelles sans risque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simulation permet des conditions contrôlées, reproductibles, et une comparaison stricte avec/sans HEAT2VALUE</a:t>
            </a:r>
            <a:endParaRPr lang="en-US" sz="125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tests sont enrichis par des données réelles (Electricity Maps, 2024) pour renforcer la crédibilité des résultats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0" y="173736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Données simulées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224028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type sur 24h, mesure toutes les 15 min ; charge réaliste faible la nuit, pic en fin d'après-midi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320040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3337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Données réelles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37033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Maps 2024 (réseau français) : 15 janvier (hiver), 15 juillet (été), 30 décembre (pic de conso)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4663440"/>
            <a:ext cx="5623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4800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Jeu de test CSV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09360" y="516636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scénarios construits manuellement : vague de froid, canicule, transitions, pics de carbone, cas extrêmes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 · MODULE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simulateur de Data Center — simulateur.py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Génère 96 points de données sur 24h (mesure toutes les 15 min)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des serveurs : progression linéaire 30% → 90% + bruit aléatoire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Puissance max : 1000 kW ; chaleur produite = 0.95 × puissance consommée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 et carbone générés, ou remplacés par des données réelles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 des données produites — scénario de référence (15 janvier 2024)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16127" y="4050792"/>
            <a:ext cx="10129266" cy="2551176"/>
          </a:xfrm>
          <a:prstGeom prst="roundRect">
            <a:avLst>
              <a:gd name="adj" fmla="val 286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8" name="Image 0" descr="assets/sim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55" y="4160520"/>
            <a:ext cx="990981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 · MODULE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de décision — decision.py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 les données du simulateur et évalue les 96 instants de la journée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paramètres fixes : SEUIL_TEMP = 18°C · SEUIL_CARBONE = 150 gCO₂/kWh · CAPACITÉ_RÉSERVOIR = 5000 kWh (limite 90%)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 la décision prise et les quantités de chaleur réutilisée, stockée et rejetée à chaque pas de temps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Décisions prises — scénario hiver (15 janvier 2024)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64759" y="3913632"/>
            <a:ext cx="6232003" cy="2871216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8" name="Image 0" descr="assets/decisi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487" y="4023360"/>
            <a:ext cx="6012547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IMPLÉMENTATION · MODULE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de calcul des KPI — kpi.py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21208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B3D56"/>
                </a:solidFill>
              </a:rPr>
              <a:t>PUE</a:t>
            </a:r>
            <a:r>
              <a:rPr lang="en-US" sz="1250" dirty="0">
                <a:solidFill>
                  <a:srgbClr val="1E2530"/>
                </a:solidFill>
              </a:rPr>
              <a:t> : puissance IT + refroidissement, qui dépend de la décision (5% réutilisation, 10% stockage, 30% rejet)
</a:t>
            </a:r>
            <a:r>
              <a:rPr lang="en-US" sz="1350" b="1" dirty="0">
                <a:solidFill>
                  <a:srgbClr val="0B3D56"/>
                </a:solidFill>
              </a:rPr>
              <a:t>CUE</a:t>
            </a:r>
            <a:r>
              <a:rPr lang="en-US" sz="1250" dirty="0">
                <a:solidFill>
                  <a:srgbClr val="1E2530"/>
                </a:solidFill>
              </a:rPr>
              <a:t> : émissions totales moins émissions évitées par la valorisation (chaudière à gaz, 200 gCO₂/kWh), plancher à 0
</a:t>
            </a:r>
            <a:r>
              <a:rPr lang="en-US" sz="1350" b="1" dirty="0">
                <a:solidFill>
                  <a:srgbClr val="0B3D56"/>
                </a:solidFill>
              </a:rPr>
              <a:t>WUE</a:t>
            </a:r>
            <a:r>
              <a:rPr lang="en-US" sz="1250" dirty="0">
                <a:solidFill>
                  <a:srgbClr val="1E2530"/>
                </a:solidFill>
              </a:rPr>
              <a:t> : dépend directement de la décision — 0.5 / 0.8 / 1.8 L/kWh selon réutilisation, stockage ou rejet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0" y="1691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calculés — extrait (15 janvier 2024)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62472" y="2039619"/>
            <a:ext cx="5614416" cy="2577594"/>
          </a:xfrm>
          <a:prstGeom prst="roundRect">
            <a:avLst>
              <a:gd name="adj" fmla="val 283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9" name="Image 0" descr="assets/kpi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149347"/>
            <a:ext cx="5394960" cy="235813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DONNÉES SIMULÉES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comparaison avec / sans HEAT2VALUE sur 24h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14779" y="1719072"/>
            <a:ext cx="9131962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6" name="Image 0" descr="assets/comparais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507" y="1828800"/>
            <a:ext cx="8912506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0080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-25%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 : 1.30 → 1.05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64992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64992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-80%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364992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: 221.36 → 43.86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89904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89904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-75%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WUE : 2.0 → 0.5 L/kWh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814816" y="5349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814816" y="542239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814816" y="59436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HRR atteint (vs 0)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DONNÉES SIMULÉES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graphique comparatif des indicateurs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85032" y="1505100"/>
            <a:ext cx="4791456" cy="4670759"/>
          </a:xfrm>
          <a:prstGeom prst="roundRect">
            <a:avLst>
              <a:gd name="adj" fmla="val 156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6" name="Image 0" descr="assets/comparaison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614828"/>
            <a:ext cx="4572000" cy="44513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965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7A8C"/>
                </a:solidFill>
              </a:rPr>
              <a:t>PUE</a:t>
            </a:r>
            <a:r>
              <a:rPr lang="en-US" sz="1100" dirty="0">
                <a:solidFill>
                  <a:srgbClr val="1E2530"/>
                </a:solidFill>
              </a:rPr>
              <a:t> — ligne rouge constante à 1.30 (gaspillage permanent) ; ligne verte à 1.05 (réutilisation continue)
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95360" y="19659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E67E22"/>
                </a:solidFill>
              </a:rPr>
              <a:t>CUE</a:t>
            </a:r>
            <a:r>
              <a:rPr lang="en-US" sz="1100" dirty="0">
                <a:solidFill>
                  <a:srgbClr val="1E2530"/>
                </a:solidFill>
              </a:rPr>
              <a:t> — les deux courbes augmentent le soir, mais la verte reste nettement sous la rouge grâce aux émissions évitées
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11480" y="493776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2E8B57"/>
                </a:solidFill>
              </a:rPr>
              <a:t>WUE</a:t>
            </a:r>
            <a:r>
              <a:rPr lang="en-US" sz="1100" dirty="0">
                <a:solidFill>
                  <a:srgbClr val="1E2530"/>
                </a:solidFill>
              </a:rPr>
              <a:t> — réduction immédiate, constante et très significative de la consommation d'eau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DONNÉES RÉELLES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données réelles Electricity Maps (2024)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92840" cy="2743200"/>
        </p:xfrm>
        <a:graphic>
          <a:graphicData uri="http://schemas.openxmlformats.org/drawingml/2006/table">
            <a:tbl>
              <a:tblPr/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Journée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Carbone moyen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janvier — hiver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2°C–10°C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Réutilisation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juillet — été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22°C–35°C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décembre — pic conso.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5°C–12°C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gCO₂/kWh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Réutilisation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06240"/>
            <a:ext cx="11292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électrique français est exceptionnellement propre (4 à 50 gCO₂/kWh réels) : HEAT2VALUE serait encore plus pertinent dans des pays à mix énergétique plus carboné (Allemagne, Pologne).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5166360"/>
            <a:ext cx="11292840" cy="1417320"/>
          </a:xfrm>
          <a:prstGeom prst="roundRect">
            <a:avLst>
              <a:gd name="adj" fmla="val 5161"/>
            </a:avLst>
          </a:prstGeom>
          <a:solidFill>
            <a:srgbClr val="EAF5EE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525780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cas — 15 janvier &amp; 30 décembre : CUE nul, les émissions évitées dépassent les émissions produites, HRR = 80%.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58521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saisonnière confirmée — 15 juillet : température et carbone trop bas pour déclencher toute valorisation.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RÉSULTATS · JEU DE 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les 12 scénarios : analyse comparative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26817" y="1581912"/>
            <a:ext cx="6501647" cy="314553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pic>
        <p:nvPicPr>
          <p:cNvPr id="6" name="Image 0" descr="assets/scenarios12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45" y="1691640"/>
            <a:ext cx="6282191" cy="2926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69164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680960" y="187452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2E8B57"/>
          </a:solidFill>
          <a:ln/>
        </p:spPr>
      </p:sp>
      <p:sp>
        <p:nvSpPr>
          <p:cNvPr id="9" name="Text 6"/>
          <p:cNvSpPr/>
          <p:nvPr/>
        </p:nvSpPr>
        <p:spPr>
          <a:xfrm>
            <a:off x="8092440" y="182880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Saison froide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680960" y="225856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scénarios / 12 → HRR = 80%, PUE = 1.05, WUE = 0.50 : valorisation systématique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52360" y="320040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680960" y="338328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E67E22"/>
          </a:solidFill>
          <a:ln/>
        </p:spPr>
      </p:sp>
      <p:sp>
        <p:nvSpPr>
          <p:cNvPr id="13" name="Text 10"/>
          <p:cNvSpPr/>
          <p:nvPr/>
        </p:nvSpPr>
        <p:spPr>
          <a:xfrm>
            <a:off x="8092440" y="33375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 automne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680960" y="376732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riche : les 3 options actives dans la même journée. HRR = 37%, PUE = 1.152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452360" y="47091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680960" y="4892040"/>
            <a:ext cx="292608" cy="292608"/>
          </a:xfrm>
          <a:prstGeom prst="roundRect">
            <a:avLst>
              <a:gd name="adj" fmla="val 93750"/>
            </a:avLst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8092440" y="484632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saisonnière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80960" y="527608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scénarios estivaux : HRR = 0%, PUE = 1.30, WUE = 1.80 — comportement classique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3 — ÉVALUATION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Métriques et synthèse des résultats par indicateur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3852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1B7A8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65960" y="184708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1.30 (refroidissement classique 30%)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852160" y="184708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systématique à 1.05 (-19%) dès que la réutilisation est possible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03580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03580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294436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sans déduction d'émissions évitées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52160" y="294436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 vers 0 en hiver (réseau propre) ; reste positif mais réduit en été / réseau carboné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3308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2E8B5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3308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965960" y="404164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1.8 L/kWh (climatisation par évaporation)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852160" y="404164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significative selon le mode de refroidissement retenu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29200"/>
            <a:ext cx="11109960" cy="960120"/>
          </a:xfrm>
          <a:prstGeom prst="roundRect">
            <a:avLst>
              <a:gd name="adj" fmla="val 761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230368"/>
            <a:ext cx="960120" cy="548640"/>
          </a:xfrm>
          <a:prstGeom prst="roundRect">
            <a:avLst>
              <a:gd name="adj" fmla="val 10000"/>
            </a:avLst>
          </a:prstGeom>
          <a:solidFill>
            <a:srgbClr val="0B3D5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230368"/>
            <a:ext cx="960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65960" y="5138928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Réf. : 0 (aucune valorisation)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852160" y="5138928"/>
            <a:ext cx="5623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 en scénarios froids, 37%–78% en transition, 0 en été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globale mesurée par le Score H2V — un score bas indique une meilleure performance environnementale.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3 — LIMITES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l'algorithme et de la démarche de validation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251960"/>
          </a:xfrm>
          <a:prstGeom prst="roundRect">
            <a:avLst>
              <a:gd name="adj" fmla="val 1720"/>
            </a:avLst>
          </a:prstGeom>
          <a:solidFill>
            <a:srgbClr val="FDECEA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l'algorithme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saisonnière : aucune valorisation possible en été (température &gt; 18°C, carbone bas)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au contexte géographique : très efficace en climat froid/tempéré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 au mix énergétique : réseau français trop propre pour déclencher le stockage</a:t>
            </a:r>
            <a:endParaRPr lang="en-US" sz="1200" dirty="0"/>
          </a:p>
          <a:p>
            <a:pPr marL="228600" indent="-228600"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Simplicité des seuils de décision : fixes, non adaptatifs aux conditions réelles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577840" cy="4251960"/>
          </a:xfrm>
          <a:prstGeom prst="roundRect">
            <a:avLst>
              <a:gd name="adj" fmla="val 1720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9202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 la validation par simulation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0" y="2423160"/>
            <a:ext cx="50292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des serveurs simulée par une progression linéaire, moins imprévisible que la réalité</a:t>
            </a:r>
            <a:endParaRPr lang="en-US" sz="120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(pertes, refroidissement, eau) issus de la littérature, non spécifiques à une infrastructure réelle</a:t>
            </a:r>
            <a:endParaRPr lang="en-US" sz="1200" dirty="0"/>
          </a:p>
          <a:p>
            <a:pPr marL="228600" indent="-228600">
              <a:spcAft>
                <a:spcPts val="1300"/>
              </a:spcAft>
              <a:buSzPct val="100000"/>
              <a:buChar char="▪"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L'infrastructure de valorisation (réseau, réservoir, connexions) est supposée déjà existante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· CHAPITRE 3 — 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 d'amélioration et travaux futurs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5031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Prévisions météorologiques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Anticiper les besoins plutôt que réagir : stocker la chaleur en avance avant une baisse de température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15968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44568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01768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Élargir les usages en été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44568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Eau chaude sanitaire, climatisation par absorption, séchage industriel — réduire la limite saisonnière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083296" y="1737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11896" y="1938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17" name="Text 15"/>
          <p:cNvSpPr/>
          <p:nvPr/>
        </p:nvSpPr>
        <p:spPr>
          <a:xfrm>
            <a:off x="8311896" y="1938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769096" y="1901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Seuils adaptatifs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11896" y="2514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Ajuster dynamiquement le seuil de carbone selon le pays, la saison ou le prix de l'électricité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224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 des pays plus carbonés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4800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Allemagne, Pologne — valider l'efficacité dans des contextes énergétiques différents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315968" y="4023360"/>
            <a:ext cx="3566160" cy="2084832"/>
          </a:xfrm>
          <a:prstGeom prst="roundRect">
            <a:avLst>
              <a:gd name="adj" fmla="val 3509"/>
            </a:avLst>
          </a:prstGeom>
          <a:solidFill>
            <a:srgbClr val="F4F7F8"/>
          </a:solidFill>
          <a:ln/>
          <a:effectLst>
            <a:outerShdw blurRad="76200" dist="25400" dir="5400000" algn="bl" rotWithShape="0">
              <a:srgbClr val="1A1A1A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44568" y="4224528"/>
            <a:ext cx="365760" cy="365760"/>
          </a:xfrm>
          <a:prstGeom prst="roundRect">
            <a:avLst>
              <a:gd name="adj" fmla="val 87500"/>
            </a:avLst>
          </a:prstGeom>
          <a:solidFill>
            <a:srgbClr val="E67E22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01768" y="4187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3D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Déploiement pilote réel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44568" y="4800600"/>
            <a:ext cx="310896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8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universitaire ou PME, à petite échelle, pour affiner les paramètres en conditions réelles</a:t>
            </a:r>
            <a:endParaRPr lang="en-US" sz="10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GÉNÉRALE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HEAT2VALUE répond à la problématique centrale du mémoire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valorisant la chaleur plutôt que de l'éliminer, HEAT2VALUE réduit simultanément le PUE, le CUE et le WUE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HRR et le Score H2V offrent une vision unifiée et originale de la performance environnementale des Data Centers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 simulés, réels (Electricity Maps) et multi-scénarios convergent vers les mêmes conclusions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identifiées — saisonnalité, contexte géographique — ouvrent des perspectives concrètes de recherche et de déploiement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732520" y="1828800"/>
            <a:ext cx="2926080" cy="4206240"/>
          </a:xfrm>
          <a:prstGeom prst="roundRect">
            <a:avLst>
              <a:gd name="adj" fmla="val 2500"/>
            </a:avLst>
          </a:prstGeom>
          <a:solidFill>
            <a:srgbClr val="082C3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0" y="21488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HRR = 0.80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conditions hivernales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0" y="3200400"/>
            <a:ext cx="2103120" cy="0"/>
          </a:xfrm>
          <a:prstGeom prst="line">
            <a:avLst/>
          </a:prstGeom>
          <a:noFill/>
          <a:ln w="12700">
            <a:solidFill>
              <a:srgbClr val="1B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0" y="3383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-19% PUE</a:t>
            </a:r>
            <a:endParaRPr lang="en-US" sz="14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-80% CUE</a:t>
            </a:r>
            <a:endParaRPr lang="en-US" sz="14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-75% WUE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 la performance énergétique des Data Centers Cloud pour réduire durablement leur empreinte carbone.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4114800"/>
            <a:ext cx="4572000" cy="4572000"/>
          </a:xfrm>
          <a:prstGeom prst="ellipse">
            <a:avLst/>
          </a:prstGeom>
          <a:solidFill>
            <a:srgbClr val="082C3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651760"/>
            <a:ext cx="121889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Lamia BELKADI  ·  Master 2 MIAGE  ·  ISOAR  ·  2025/2026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3030</Words>
  <Application>Microsoft Office PowerPoint</Application>
  <PresentationFormat>Grand écran</PresentationFormat>
  <Paragraphs>494</Paragraphs>
  <Slides>33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Ali ATTAB</cp:lastModifiedBy>
  <cp:revision>9</cp:revision>
  <dcterms:created xsi:type="dcterms:W3CDTF">2026-08-05T10:19:45Z</dcterms:created>
  <dcterms:modified xsi:type="dcterms:W3CDTF">2026-08-06T14:38:20Z</dcterms:modified>
</cp:coreProperties>
</file>