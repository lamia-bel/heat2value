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37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5818" y="-2011679"/>
            <a:ext cx="5116021" cy="4754879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389120" cy="4389120"/>
          </a:xfrm>
          <a:prstGeom prst="ellipse">
            <a:avLst/>
          </a:prstGeom>
          <a:solidFill>
            <a:srgbClr val="082C3E"/>
          </a:solidFill>
          <a:ln/>
        </p:spPr>
      </p:sp>
      <p:pic>
        <p:nvPicPr>
          <p:cNvPr id="4" name="Image 0" descr="assets/logo_univ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020"/>
            <a:ext cx="1937170" cy="6603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" name="Image 1" descr="assets/logo_c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59" y="621792"/>
            <a:ext cx="1846349" cy="6603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6" name="Image 2" descr="assets/logo_isoar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960" y="468744"/>
            <a:ext cx="1714498" cy="6857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Text 2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FIN D'ÉTUDES — MASTER 2 MIAGE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822960" y="26060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de l'efficience énergétique et de l'empreinte carbone des Data Centers Cloud</a:t>
            </a:r>
            <a:endParaRPr lang="en-US" sz="3400" dirty="0"/>
          </a:p>
        </p:txBody>
      </p:sp>
      <p:sp>
        <p:nvSpPr>
          <p:cNvPr id="9" name="Text 4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22960" y="51206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 BELKADI
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Tuteur pédagogique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Bachir DJAFRI
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d'apprentissage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Anthony CORTEZ
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d'accueil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ISOAR — Année universitaire 2025/2026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95410" cy="4718304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70992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5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53671"/>
            <a:ext cx="502920" cy="1206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682494"/>
            <a:ext cx="3840480" cy="576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 l'entreprise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328134"/>
            <a:ext cx="4480560" cy="3478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L'entreprise ISOAR et ses clients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Le maître d'apprentissage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Les travaux </a:t>
            </a:r>
            <a:r>
              <a:rPr lang="en-US" sz="1450" dirty="0" err="1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effectués</a:t>
            </a: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entreprise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Évolution vers la gestion de projet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Technologies et outils utilisés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9839" y="1481328"/>
            <a:ext cx="5502537" cy="4718304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0958" y="1649058"/>
            <a:ext cx="502919" cy="5029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endParaRPr lang="en-US" dirty="0"/>
          </a:p>
          <a:p>
            <a:endParaRPr lang="fr-FR" dirty="0"/>
          </a:p>
        </p:txBody>
      </p:sp>
      <p:sp>
        <p:nvSpPr>
          <p:cNvPr id="12" name="Text 10"/>
          <p:cNvSpPr/>
          <p:nvPr/>
        </p:nvSpPr>
        <p:spPr>
          <a:xfrm>
            <a:off x="6675120" y="1900518"/>
            <a:ext cx="502920" cy="659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0" y="1668781"/>
            <a:ext cx="3818965" cy="589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mémoire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20840" y="2328134"/>
            <a:ext cx="4526280" cy="3478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Problématique &amp; contexte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État de l'art &amp; limites des solutions existantes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HEAT2VALUE : le changement de paradigme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Le nouveau KPI : le HRR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Le nouveau score environnemental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Architecture &amp; fonctionnement de l'algorithme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Implémentation en Python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400" dirty="0"/>
              <a:t>Résultats &amp; comparaison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400" dirty="0"/>
              <a:t>Métriques &amp; indicateurs de réalisation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400" dirty="0"/>
              <a:t>Limites &amp; perspectives d'amélioration</a:t>
            </a:r>
            <a:endParaRPr lang="fr-FR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4" name="Text 2"/>
          <p:cNvSpPr/>
          <p:nvPr/>
        </p:nvSpPr>
        <p:spPr>
          <a:xfrm>
            <a:off x="1247832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23323" y="31318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 l'activité en entreprise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19266" y="299466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08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ENTREPRISE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L'entreprise ISOAR et ses clients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943600" cy="4343400"/>
          </a:xfrm>
          <a:prstGeom prst="roundRect">
            <a:avLst>
              <a:gd name="adj" fmla="val 168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61882"/>
            <a:ext cx="5212080" cy="83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1992</a:t>
            </a: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Rungis (94)
</a:t>
            </a:r>
            <a:r>
              <a:rPr lang="en-US" sz="13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: </a:t>
            </a: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de logiciels ERP, qualité industrielle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899186"/>
            <a:ext cx="5212080" cy="1919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de l'ERP SQUALP, progiciel de gestion industrielle intégrant la qualité aux processus métiers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industriels variés : bois, polymères, médical, bâtiment, produits biologiques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d'accueil : pôle développement informatique (ERP, web/mobile, API REST)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05600" y="1691640"/>
            <a:ext cx="49377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Quelques clients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95160" y="2331720"/>
            <a:ext cx="2041264" cy="1159405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11" name="Image 0" descr="assets/client_gascog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100" y="2441448"/>
            <a:ext cx="1259840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04888" y="3063240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 — ~3000 employés, cotée en bourse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343016" y="2331720"/>
            <a:ext cx="2041264" cy="1159405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14" name="Image 1" descr="assets/client_polytech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5700" y="2441448"/>
            <a:ext cx="1259840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19488" y="30632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de polymères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995160" y="3600853"/>
            <a:ext cx="2041264" cy="1218035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17" name="Image 2" descr="assets/client_flexelec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320" y="3734698"/>
            <a:ext cx="1259840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04888" y="4333005"/>
            <a:ext cx="2112264" cy="440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hors gel &amp; maintien en température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43016" y="3566161"/>
            <a:ext cx="2041264" cy="123444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20" name="Image 3" descr="assets/client_age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896" y="3661905"/>
            <a:ext cx="1259840" cy="5669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19488" y="4343400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du bâtiment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995160" y="4928616"/>
            <a:ext cx="2041264" cy="1032913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23" name="Image 4" descr="assets/client_imc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1100" y="4983481"/>
            <a:ext cx="1259840" cy="56065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04888" y="5565827"/>
            <a:ext cx="2112264" cy="5606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du consommable médical (Algérie)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9343016" y="4915168"/>
            <a:ext cx="2041264" cy="1032913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26" name="Image 5" descr="assets/client_sobi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5700" y="4996392"/>
            <a:ext cx="1259840" cy="5669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19488" y="5623560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certifiés BIO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ENTREPRISE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maître d'apprentissage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0B3D5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874520" y="20848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Anthony CORTEZ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74520" y="24871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principal / Responsable technique et projets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du développement, de la maintenance et de l'évolution de l'ERP SQUALP (Delphi / SQL Server)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des projets clients et analyse des besoins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des cahiers des charges et suivi des plannings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technique et formation des utilisateurs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M'a accompagnée avec des missions progressives et responsabilisantes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de l'équipe de développement</a:t>
            </a:r>
            <a:endParaRPr lang="en-US" sz="1400" dirty="0"/>
          </a:p>
        </p:txBody>
      </p:sp>
      <p:pic>
        <p:nvPicPr>
          <p:cNvPr id="13" name="Image 0" descr="assets/orgchar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720226"/>
            <a:ext cx="5394960" cy="28348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Résumé des travaux proposés par l'entreprise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384048" cy="384048"/>
          </a:xfrm>
          <a:prstGeom prst="roundRect">
            <a:avLst>
              <a:gd name="adj" fmla="val 95238"/>
            </a:avLst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Missions demandées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web (front/back), adaptation de SQUALP vers le web/mobile, conception d'API REST, amélioration des interfaces utilisateurs.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965960"/>
            <a:ext cx="384048" cy="384048"/>
          </a:xfrm>
          <a:prstGeom prst="roundRect">
            <a:avLst>
              <a:gd name="adj" fmla="val 95238"/>
            </a:avLst>
          </a:prstGeom>
          <a:solidFill>
            <a:srgbClr val="1B7A8C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193852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Existant avant mon arrivée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2450592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SQUALP existant en desktop, API REST partielles ou inexistantes, interfaces nécessitant une amélioration ergonomique.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50792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79392"/>
            <a:ext cx="384048" cy="384048"/>
          </a:xfrm>
          <a:prstGeom prst="roundRect">
            <a:avLst>
              <a:gd name="adj" fmla="val 95238"/>
            </a:avLst>
          </a:prstGeom>
          <a:solidFill>
            <a:srgbClr val="1B7A8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251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prévisionnel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764024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 avec souplesse selon les priorités clients, les urgences de production et les phases de tests/validation.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050792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279392"/>
            <a:ext cx="384048" cy="384048"/>
          </a:xfrm>
          <a:prstGeom prst="roundRect">
            <a:avLst>
              <a:gd name="adj" fmla="val 95238"/>
            </a:avLst>
          </a:prstGeom>
          <a:solidFill>
            <a:srgbClr val="1B7A8C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251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de travail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4764024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collaboration avec l'équipe ISOAR, en autonomie sur certaines tâches, en environnement professionnel réel.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des missions vers la gestion de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Travaux réalisés en entreprise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8463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3D56"/>
                </a:solidFill>
              </a:rPr>
              <a:t>SQUALP Web</a:t>
            </a:r>
            <a:r>
              <a:rPr lang="en-US" sz="1250" dirty="0">
                <a:solidFill>
                  <a:srgbClr val="1E2530"/>
                </a:solidFill>
              </a:rPr>
              <a:t>  — transfert de stocks, inventaires, classement des stocks, ordres de service ; interfaces réactives, filtres dynamiques, scanner code-barres, fenêtres modales.
</a:t>
            </a:r>
            <a:r>
              <a:rPr lang="en-US" sz="1350" b="1" dirty="0">
                <a:solidFill>
                  <a:srgbClr val="0B3D56"/>
                </a:solidFill>
              </a:rPr>
              <a:t>Projet IXAO</a:t>
            </a:r>
            <a:r>
              <a:rPr lang="en-US" sz="1250" dirty="0">
                <a:solidFill>
                  <a:srgbClr val="1E2530"/>
                </a:solidFill>
              </a:rPr>
              <a:t>  — gestion des demandes internes et clients : évolutions front-end, ajustements back-end/BDD, nouvelles fonctionnalités.
</a:t>
            </a:r>
            <a:r>
              <a:rPr lang="en-US" sz="1350" b="1" dirty="0">
                <a:solidFill>
                  <a:srgbClr val="0B3D56"/>
                </a:solidFill>
              </a:rPr>
              <a:t>API REST — client Gascogne Bois</a:t>
            </a:r>
            <a:r>
              <a:rPr lang="en-US" sz="1250" dirty="0">
                <a:solidFill>
                  <a:srgbClr val="1E2530"/>
                </a:solidFill>
              </a:rPr>
              <a:t>  — API en JavaScript/PHP sur procédures stockées SQL, tests et validation via Postman.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 la gestion de projet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rôle a évolué avec une montée en autonomie progressive et une implication plus importante sur les aspects web et API que prévu initialement.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 fonctionnels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des tâches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projets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des phases de développement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5074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Vision plus globale du cycle de vie des projets informatiques en entreprise.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ENVIRONNEMENT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et outils utilisés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93392"/>
            <a:ext cx="384048" cy="73152"/>
          </a:xfrm>
          <a:prstGeom prst="roundRect">
            <a:avLst>
              <a:gd name="adj" fmla="val 50000"/>
            </a:avLst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2148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(lecture)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0168" y="1993392"/>
            <a:ext cx="384048" cy="73152"/>
          </a:xfrm>
          <a:prstGeom prst="roundRect">
            <a:avLst>
              <a:gd name="adj" fmla="val 50000"/>
            </a:avLst>
          </a:prstGeom>
          <a:solidFill>
            <a:srgbClr val="0B3D56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697480"/>
            <a:ext cx="2148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3096" y="1993392"/>
            <a:ext cx="384048" cy="7315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2697480"/>
            <a:ext cx="2148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Profiler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07424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36024" y="1993392"/>
            <a:ext cx="384048" cy="7315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9336024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63456" y="2697480"/>
            <a:ext cx="2148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itératif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versions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144768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61447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Master mobilisées : bases de données relationnelles, développement web, conception d'API, méthodes de test, génie logiciel.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mémoire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HEAT2VALUE — Un algorithme de valorisation thermique pour l'optimisation énergétique des Data Centers Cloud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08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problématique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492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Data Centers, piliers du numérique, consomment des quantités massives d'électricité et rejettent beaucoup de CO₂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L'essor de l'intelligence artificielle amplifie cette consommation encore plus rapidement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infrastructures doivent rester performantes tout en réduisant leur impact environnemental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6492240" cy="1417320"/>
          </a:xfrm>
          <a:prstGeom prst="roundRect">
            <a:avLst>
              <a:gd name="adj" fmla="val 5161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4617720"/>
            <a:ext cx="5943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optimiser la performance énergétique des Data Centers Cloud afin de réduire durablement leur empreinte carbone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920" y="178308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0" y="19202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052560" y="178308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électrique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3264408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340156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052560" y="3264408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Émissions de carbone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4745736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0" y="4882896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52560" y="4745736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d'eau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1 — ÉTAT DE L'ART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de la littérature et leurs limites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piliers d'optimisation identifiés dans la recherche récente (2024-2025)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109960" cy="356616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 clé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ciblé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principale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 logicielle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Capping &amp; DVFS dynamique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 de l'algorithme de contrôle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Flexibilité géographique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Carbon-Aware Migration (Follow the Sun)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Latence liée au transfert de données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Indépendance énergétique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Éolien direct + BESS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fossile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Investissement initial (CAPEX) massif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holistique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multi-objectifs (SHIELD)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 / CUE / WUE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grande complexité 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98932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DECEA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989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commune : la chaleur produite par les serveurs reste traitée comme un déchet à éliminer, jamais comme une ressource à valoriser.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HEAT2VALUE : de l'élimination à la valorisation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DECEA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des approches actuelles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chaleur est systématiquement traitée comme un déchet inévitable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évacuée via tours de refroidissement, climatiseurs, évaporation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paie deux fois : produire l'électricité, puis évacuer la chaleur générée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577840" cy="4251960"/>
          </a:xfrm>
          <a:prstGeom prst="roundRect">
            <a:avLst>
              <a:gd name="adj" fmla="val 1720"/>
            </a:avLst>
          </a:prstGeom>
          <a:solidFill>
            <a:srgbClr val="EAF5E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changement de paradigme HEAT2VALUE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chaleur devient une ressource à exploiter, pas un déchet à éliminer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peut chauffer des bâtiments voisins, alimenter un réseau urbain ou être stockée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simultanée de l'énergie de refroidissement, du carbone et de l'eau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d'une valeur environnementale nouvelle, mesurée par le HRR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2103120"/>
            <a:ext cx="0" cy="3657600"/>
          </a:xfrm>
          <a:prstGeom prst="line">
            <a:avLst/>
          </a:prstGeom>
          <a:noFill/>
          <a:ln w="19050">
            <a:solidFill>
              <a:srgbClr val="DDE3E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623560" y="3566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POSITIONNEMENT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Positionnement : HEAT2VALUE vs solutions existantes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61320" cy="384048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Valorisation chaleur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WaterWise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Carbon-Aware Scheduling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Refroidissement par liquide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HEAT2VALUE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0644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HEAT2VALUE est la seule solution qui intègre simultanément les trois indicateurs classiques tout en ajoutant une quatrième dimension : la valorisation de la chaleur résiduelle.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CONTRIBUTION ORIGINALE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nouveau KPI : Heat Reuse Ratio (HRR)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4526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HRR = Chaleur réutilisée (kWh) / Chaleur totale produite (kWh)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94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37947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chaleur est rejetée — Data Center classique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80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44805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 la chaleur valorisée — résultat obtenu en hiver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663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51663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chaleur produite est réutilisée — cas idéal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1737360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920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KPI est original et nécessaire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09360" y="242316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PUE, CUE et WUE mesurent uniquement ce qui entre dans le système ou ce qui en sort sous forme de pollution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d'eux ne s'intéresse à ce que le Data Center produit et pourrait valoriser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chaleur générée reste invisible dans ces mesures, même lorsqu'elle remplace une chaudière à gaz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HRR rend visible un impact environnemental positif jusqu'ici ignoré : on mesure ce que l'on choisit de valoriser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SCORE H2V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nouveau score environnemental global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11109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H2V = α·PUE + β·CUE + γ·WUE − δ·HRR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α, β, 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attribués aux trois indicateurs classiques, ajustables selon le contexte (ex. augmenter γ en zone de stress hydrique)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3703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4568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4568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attribué à la valorisation thermique : plus il est élevé, plus le système récompense la valorisation de la chaleur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3703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11896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HRR soustrait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11896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Volontairement soustrait : plus il est élevé, plus le bilan est bon, donc plus le score global doit baisser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bas signifie une meilleure performance environnementale globale — vision unifiée des quatre indicateurs en une seule valeur.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FONCTIONNEMENT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 l'algorithme : données d'entrée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types de données, collectées toutes les 15 minutes, complémentaires et indissociables 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rgbClr val="1B7A8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internes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 travail des serveurs. 95% de l'électricité consommée se transforme en chaleur : c'est le point de départ de toute décision.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2560320"/>
            <a:ext cx="685800" cy="6858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560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0288" y="3383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météo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90288" y="39319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extérieure. Sous 18°C, les bâtiments voisins ont besoin de chauffage — seuil qui déclenche ou non la réutilisation.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2560320"/>
            <a:ext cx="685800" cy="6858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560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57616" y="3383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énergétiques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57616" y="39319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Intensité carbone du réseau (gCO₂/kWh). Guide la décision de stocker la chaleur quand le réseau est polluant.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FONCTIONNEMENT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options de destination de la chaleur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109960" cy="310896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de déclenchement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Chaleur valorisée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Réutilisation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 &lt; 18°C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Stockage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Carbone &gt; 150 gCO₂/kWh ET réservoir &lt; 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Rejet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autre option disponible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578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stricte : la réutilisation est toujours privilégiée, le stockage vient en second, le rejet est le dernier recours.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589788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EAF5E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897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chaleur des serveurs devient une décision environnementale prise toutes les 15 minutes — et non plus un simple déchet thermique.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FONCTIONNEMENT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moteur de décision : logique de priorité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48483" y="1490472"/>
            <a:ext cx="4464555" cy="5111496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assets/decision_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211" y="1600200"/>
            <a:ext cx="4245099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hiérarchie justifiée 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0" y="1920240"/>
            <a:ext cx="2971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400"/>
              </a:spcAft>
              <a:buSzPct val="100000"/>
              <a:buChar char="▪"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 prioritaire : valorisation immédiate, sans délai ni perte supplémentaire</a:t>
            </a:r>
            <a:endParaRPr lang="en-US" sz="1150" dirty="0"/>
          </a:p>
          <a:p>
            <a:pPr marL="228600" indent="-228600" algn="r">
              <a:spcAft>
                <a:spcPts val="1400"/>
              </a:spcAft>
              <a:buSzPct val="100000"/>
              <a:buChar char="▪"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en 2ème position : différer la valorisation quand le réseau est polluant</a:t>
            </a:r>
            <a:endParaRPr lang="en-US" sz="1150" dirty="0"/>
          </a:p>
          <a:p>
            <a:pPr marL="228600" indent="-228600" algn="r">
              <a:spcAft>
                <a:spcPts val="1400"/>
              </a:spcAft>
              <a:buSzPct val="100000"/>
              <a:buChar char="▪"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 en dernier recours : correspond au Data Center classique, ce que HEAT2VALUE évite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COMPORTEMENT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par des scénarios concrets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017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&lt; 18°C en continu → Option A systématique. Valorisation continue, meilleur scénario pour HEAT2VALUE : les 4 indicateurs s'améliorent simultanément.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78308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057400"/>
            <a:ext cx="777240" cy="7772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☀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44568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0288" y="3566160"/>
            <a:ext cx="3017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&gt; 18°C, carbone bas (nucléaire/solaire) → Option C (rejet classique). Limite saisonnière réelle et assumée de l'algorithme.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178308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057400"/>
            <a:ext cx="777240" cy="7772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🍂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11896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57616" y="3566160"/>
            <a:ext cx="3017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oscille autour de 18°C → les 3 options interviennent dans la même journée. Illustre au mieux la flexibilité et l'adaptabilité de l'algorithme.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2 — FAISABILITÉ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techniques : Python et ses bibliothèques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Python 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référence de la communauté scientifique en optimisation des infrastructures numériques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avec les pratiques de recherche (SHIELD, Carbon-Aware, Deep RL)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riche de bibliothèques scientifiques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lisible et facilement maintenable — essentiel pour un déploiement industriel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993392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1B7A8C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993392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mathématiques : formules du HRR, du Score H2V et des indicateurs classiques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320040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3456432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1B7A8C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456432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18120" y="3200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données temporelles : mesures toutes les 15 minutes sur 24 heures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466344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4919472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1B7A8C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4919472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4663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des résultats : graphiques de comparaison avant/après HEAT2VALUE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IMPLÉMENTATION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Chapitre 3 — Architecture modulaire de l'implémentation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modules Python indépendants, chacun testable séparément 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07792" y="1866297"/>
            <a:ext cx="6345936" cy="4679886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0" descr="assets/architecture_mod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976025"/>
            <a:ext cx="6126480" cy="44604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IMPLÉMENTATION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de la simulation &amp; données utilisées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la simulation 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 Center est un environnement critique : impossible de tester un algorithme en conditions réelles sans risque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simulation permet des conditions contrôlées, reproductibles, et une comparaison stricte avec/sans HEAT2VALUE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tests sont enrichis par des données réelles (Electricity Maps, 2024) pour renforcer la crédibilité des résultats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Données simulées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type sur 24h, mesure toutes les 15 min ; charge réaliste faible la nuit, pic en fin d'après-midi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320040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Données réelles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37033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Maps 2024 (réseau français) : 15 janvier (hiver), 15 juillet (été), 30 décembre (pic de conso)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466344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4800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Jeu de test CSV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5166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scénarios construits manuellement : vague de froid, canicule, transitions, pics de carbone, cas extrêmes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IMPLÉMENTATION · 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simulateur de Data Center — simulateur.py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96 points de données sur 24h (mesure toutes les 15 min)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des serveurs : progression linéaire 30% → 90% + bruit aléatoire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max : 1000 kW ; chaleur produite = 0.95 × puissance consommée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et carbone générés, ou remplacés par des données réelles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 des données produites — scénario de référence (15 janvier 2024)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6127" y="4050792"/>
            <a:ext cx="10129266" cy="2551176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8" name="Image 0" descr="assets/sim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55" y="4160520"/>
            <a:ext cx="990981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IMPLÉMENTATION · 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module de décision — decision.py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les données du simulateur et évalue les 96 instants de la journée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paramètres fixes : SEUIL_TEMP = 18°C · SEUIL_CARBONE = 150 gCO₂/kWh · CAPACITÉ_RÉSERVOIR = 5000 kWh (limite 90%)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la décision prise et les quantités de chaleur réutilisée, stockée et rejetée à chaque pas de temps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Décisions prises — scénario hiver (15 janvier 2024)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4759" y="3913632"/>
            <a:ext cx="6232003" cy="2871216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8" name="Image 0" descr="assets/decisi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487" y="4023360"/>
            <a:ext cx="6012547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IMPLÉMENTATION · 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module de calcul des KPI — kpi.py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2120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3D56"/>
                </a:solidFill>
              </a:rPr>
              <a:t>PUE</a:t>
            </a:r>
            <a:r>
              <a:rPr lang="en-US" sz="1250" dirty="0">
                <a:solidFill>
                  <a:srgbClr val="1E2530"/>
                </a:solidFill>
              </a:rPr>
              <a:t> : puissance IT + refroidissement, qui dépend de la décision (5% réutilisation, 10% stockage, 30% rejet)
</a:t>
            </a:r>
            <a:r>
              <a:rPr lang="en-US" sz="1350" b="1" dirty="0">
                <a:solidFill>
                  <a:srgbClr val="0B3D56"/>
                </a:solidFill>
              </a:rPr>
              <a:t>CUE</a:t>
            </a:r>
            <a:r>
              <a:rPr lang="en-US" sz="1250" dirty="0">
                <a:solidFill>
                  <a:srgbClr val="1E2530"/>
                </a:solidFill>
              </a:rPr>
              <a:t> : émissions totales moins émissions évitées par la valorisation (chaudière à gaz, 200 gCO₂/kWh), plancher à 0
</a:t>
            </a:r>
            <a:r>
              <a:rPr lang="en-US" sz="1350" b="1" dirty="0">
                <a:solidFill>
                  <a:srgbClr val="0B3D56"/>
                </a:solidFill>
              </a:rPr>
              <a:t>WUE</a:t>
            </a:r>
            <a:r>
              <a:rPr lang="en-US" sz="1250" dirty="0">
                <a:solidFill>
                  <a:srgbClr val="1E2530"/>
                </a:solidFill>
              </a:rPr>
              <a:t> : dépend directement de la décision — 0.5 / 0.8 / 1.8 L/kWh selon réutilisation, stockage ou rejet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504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calculés — extrait (15 janvier 2024)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62472" y="2039619"/>
            <a:ext cx="5614416" cy="2577594"/>
          </a:xfrm>
          <a:prstGeom prst="roundRect">
            <a:avLst>
              <a:gd name="adj" fmla="val 28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9" name="Image 0" descr="assets/kpi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49347"/>
            <a:ext cx="5394960" cy="23581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RÉSULTATS · DONNÉES SIMULÉES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comparaison avec / sans HEAT2VALUE sur 24h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14779" y="1719072"/>
            <a:ext cx="9131962" cy="3419856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assets/compara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07" y="1828800"/>
            <a:ext cx="8912506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5422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: 1.30 → 1.05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4992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64992" y="5422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364992" y="5943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: 221.36 → 43.86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9904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9904" y="5422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089904" y="5943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WUE : 2.0 → 0.5 L/kWh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14816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814816" y="5422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814816" y="5943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 atteint (vs 0)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RÉSULTATS · DONNÉES SIMULÉES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graphique comparatif des indicateurs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85032" y="1505100"/>
            <a:ext cx="4791456" cy="4670759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assets/comparaison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614828"/>
            <a:ext cx="4572000" cy="44513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659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7A8C"/>
                </a:solidFill>
              </a:rPr>
              <a:t>PUE</a:t>
            </a:r>
            <a:r>
              <a:rPr lang="en-US" sz="1100" dirty="0">
                <a:solidFill>
                  <a:srgbClr val="1E2530"/>
                </a:solidFill>
              </a:rPr>
              <a:t> — ligne rouge constante à 1.30 (gaspillage permanent) ; ligne verte à 1.05 (réutilisation continue)
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95360" y="19659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E67E22"/>
                </a:solidFill>
              </a:rPr>
              <a:t>CUE</a:t>
            </a:r>
            <a:r>
              <a:rPr lang="en-US" sz="1100" dirty="0">
                <a:solidFill>
                  <a:srgbClr val="1E2530"/>
                </a:solidFill>
              </a:rPr>
              <a:t> — les deux courbes augmentent le soir, mais la verte reste nettement sous la rouge grâce aux émissions évitées
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4937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E8B57"/>
                </a:solidFill>
              </a:rPr>
              <a:t>WUE</a:t>
            </a:r>
            <a:r>
              <a:rPr lang="en-US" sz="1100" dirty="0">
                <a:solidFill>
                  <a:srgbClr val="1E2530"/>
                </a:solidFill>
              </a:rPr>
              <a:t> — réduction immédiate, constante et très significative de la consommation d'eau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RÉSULTATS · DONNÉES RÉELLES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sur données réelles Electricity Maps (2024)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9284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Carbone moyen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janvier — hiver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2°C–10°C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gCO₂/kWh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juillet — été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22°C–35°C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 gCO₂/kWh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décembre — pic conso.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5°C–12°C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gCO₂/kWh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06240"/>
            <a:ext cx="11292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électrique français est exceptionnellement propre (4 à 50 gCO₂/kWh réels) : HEAT2VALUE serait encore plus pertinent dans des pays à mix énergétique plus carboné (Allemagne, Pologne).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5166360"/>
            <a:ext cx="11292840" cy="1417320"/>
          </a:xfrm>
          <a:prstGeom prst="roundRect">
            <a:avLst>
              <a:gd name="adj" fmla="val 5161"/>
            </a:avLst>
          </a:prstGeom>
          <a:solidFill>
            <a:srgbClr val="EAF5E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5257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cas — 15 janvier &amp; 30 décembre : CUE nul, les émissions évitées dépassent les émissions produites, HRR = 80%.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58521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saisonnière confirmée — 15 juillet : température et carbone trop bas pour déclencher toute valorisation.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RÉSULTATS · JEU DE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sur les 12 scénarios : analyse comparative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26817" y="1581912"/>
            <a:ext cx="6501647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assets/scenarios12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45" y="1691640"/>
            <a:ext cx="6282191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69164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874520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2E8B57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828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Saison froide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0" y="225856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scénarios / 12 → HRR = 80%, PUE = 1.05, WUE = 0.50 : valorisation systématique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320040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0" y="3383280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3337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automne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80960" y="376732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riche : les 3 options actives dans la même journée. HRR = 37%, PUE = 1.152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470916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0" y="4892040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92440" y="48463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saisonnière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680960" y="52760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scénarios estivaux : HRR = 0%, PUE = 1.30, WUE = 1.80 — comportement classique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3 — ÉVALUATION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et synthèse des résultats par indicateur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184708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1.30 (refroidissement classique 30%)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0" y="184708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systématique à 1.05 (-19%) dès que la réutilisation est possible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3580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294436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sans déduction d'émissions évitées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52160" y="294436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 vers 0 en hiver (réseau propre) ; reste positif mais réduit en été / réseau carboné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3308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3308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404164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1.8 L/kWh (climatisation par évaporation)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52160" y="404164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significative selon le mode de refroidissement retenu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23036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0B3D5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3036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65960" y="513892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0 (aucune valorisation)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0" y="513892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 en scénarios froids, 37%–78% en transition, 0 en été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globale mesurée par le Score H2V — un score bas indique une meilleure performance environnementale.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3 — LIMITES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l'algorithme et de la démarche de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DECEA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l'algorithme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saisonnière : aucune valorisation possible en été (température &gt; 18°C, carbone bas)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 contexte géographique : très efficace en climat froid/tempéré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 mix énergétique : réseau français trop propre pour déclencher le stockage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 des seuils de décision : fixes, non adaptatifs aux conditions réelles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577840" cy="4251960"/>
          </a:xfrm>
          <a:prstGeom prst="roundRect">
            <a:avLst>
              <a:gd name="adj" fmla="val 172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la validation par simulation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5029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des serveurs simulée par une progression linéaire, moins imprévisible que la réalité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(pertes, refroidissement, eau) issus de la littérature, non spécifiques à une infrastructure réelle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de valorisation (réseau, réservoir, connexions) est supposée déjà existante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CHAPITRE 3 — 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 et travaux futurs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Prévisions météorologiques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besoins plutôt que réagir : stocker la chaleur en avance avant une baisse de température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15968" y="1737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1938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01768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Élargir les usages en été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4568" y="2514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chaude sanitaire, climatisation par absorption, séchage industriel — réduire la limite saisonnière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83296" y="1737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11896" y="1938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69096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Seuils adaptatifs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1896" y="2514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dynamiquement le seuil de carbone selon le pays, la saison ou le prix de l'électricité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24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187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 des pays plus carbonés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Allemagne, Pologne — valider l'efficacité dans des contextes énergétiques différents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15968" y="4023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4224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01768" y="4187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pilote réel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44568" y="4800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universitaire ou PME, à petite échelle, pour affiner les paramètres en conditions réelles</a:t>
            </a:r>
            <a:endParaRPr lang="en-US" sz="10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GÉNÉRALE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HEAT2VALUE répond à la problématique centrale du mémoire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valorisant la chaleur plutôt que de l'éliminer, HEAT2VALUE réduit simultanément le PUE, le CUE et le WUE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HRR et le Score H2V offrent une vision unifiée et originale de la performance environnementale des Data Centers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simulés, réels (Electricity Maps) et multi-scénarios convergent vers les mêmes conclusions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 identifiées — saisonnalité, contexte géographique — ouvrent des perspectives concrètes de recherche et de déploiement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32520" y="182880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082C3E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HRR = 0.80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conditions hivernales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0" y="3200400"/>
            <a:ext cx="2103120" cy="0"/>
          </a:xfrm>
          <a:prstGeom prst="line">
            <a:avLst/>
          </a:prstGeom>
          <a:noFill/>
          <a:ln w="12700">
            <a:solidFill>
              <a:srgbClr val="1B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3383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-19% PUE</a:t>
            </a:r>
            <a:endParaRPr lang="en-US" sz="14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-80% CUE</a:t>
            </a:r>
            <a:endParaRPr lang="en-US" sz="14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 WUE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la performance énergétique des Data Centers Cloud pour réduire durablement leur empreinte carbone.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 BELKADI  ·  Master 2 MIAGE  ·  ISOAR  ·  2025/2026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3142</Words>
  <Application>Microsoft Office PowerPoint</Application>
  <PresentationFormat>Grand écran</PresentationFormat>
  <Paragraphs>480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ATTAB</cp:lastModifiedBy>
  <cp:revision>6</cp:revision>
  <dcterms:created xsi:type="dcterms:W3CDTF">2026-08-05T10:19:45Z</dcterms:created>
  <dcterms:modified xsi:type="dcterms:W3CDTF">2026-08-05T11:33:04Z</dcterms:modified>
</cp:coreProperties>
</file>